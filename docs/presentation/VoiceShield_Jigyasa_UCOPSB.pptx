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48840"/>
            <a:ext cx="9144000" cy="1097280"/>
          </a:xfrm>
          <a:prstGeom prst="rect">
            <a:avLst/>
          </a:prstGeom>
          <a:noFill/>
        </p:spPr>
        <p:txBody>
          <a:bodyPr wrap="square" anchor="t">
            <a:spAutoFit/>
          </a:bodyPr>
          <a:lstStyle/>
          <a:p>
            <a:pPr algn="l">
              <a:lnSpc>
                <a:spcPct val="100000"/>
              </a:lnSpc>
            </a:pPr>
            <a:r>
              <a:rPr sz="5400" b="1">
                <a:solidFill>
                  <a:srgbClr val="1A1A1A"/>
                </a:solidFill>
                <a:latin typeface="Calibri Light"/>
              </a:rPr>
              <a:t>VoiceShield</a:t>
            </a:r>
          </a:p>
        </p:txBody>
      </p:sp>
      <p:sp>
        <p:nvSpPr>
          <p:cNvPr id="3" name="Rectangle 2"/>
          <p:cNvSpPr/>
          <p:nvPr/>
        </p:nvSpPr>
        <p:spPr>
          <a:xfrm>
            <a:off x="704088" y="3063240"/>
            <a:ext cx="822960" cy="381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3291840"/>
            <a:ext cx="10058400" cy="548640"/>
          </a:xfrm>
          <a:prstGeom prst="rect">
            <a:avLst/>
          </a:prstGeom>
          <a:noFill/>
        </p:spPr>
        <p:txBody>
          <a:bodyPr wrap="square" anchor="t">
            <a:spAutoFit/>
          </a:bodyPr>
          <a:lstStyle/>
          <a:p>
            <a:pPr algn="l">
              <a:lnSpc>
                <a:spcPct val="100000"/>
              </a:lnSpc>
            </a:pPr>
            <a:r>
              <a:rPr sz="2000" b="0">
                <a:solidFill>
                  <a:srgbClr val="6B7280"/>
                </a:solidFill>
                <a:latin typeface="Calibri"/>
              </a:rPr>
              <a:t>Real-time audio forensics that flags cloned voices on live calls — within 10 seconds.</a:t>
            </a:r>
          </a:p>
        </p:txBody>
      </p:sp>
      <p:sp>
        <p:nvSpPr>
          <p:cNvPr id="5" name="TextBox 4"/>
          <p:cNvSpPr txBox="1"/>
          <p:nvPr/>
        </p:nvSpPr>
        <p:spPr>
          <a:xfrm>
            <a:off x="685800" y="5760720"/>
            <a:ext cx="10058400" cy="731520"/>
          </a:xfrm>
          <a:prstGeom prst="rect">
            <a:avLst/>
          </a:prstGeom>
          <a:noFill/>
        </p:spPr>
        <p:txBody>
          <a:bodyPr wrap="square" anchor="t">
            <a:spAutoFit/>
          </a:bodyPr>
          <a:lstStyle/>
          <a:p>
            <a:pPr algn="l">
              <a:lnSpc>
                <a:spcPct val="100000"/>
              </a:lnSpc>
            </a:pPr>
            <a:r>
              <a:rPr sz="1300" b="0">
                <a:solidFill>
                  <a:srgbClr val="6B7280"/>
                </a:solidFill>
                <a:latin typeface="Calibri"/>
              </a:rPr>
              <a:t>Team Jigyasa  ·  Amit Anand · Suraj Harlekar · Aditya Dubey</a:t>
            </a:r>
          </a:p>
          <a:p>
            <a:pPr algn="l">
              <a:lnSpc>
                <a:spcPct val="100000"/>
              </a:lnSpc>
            </a:pPr>
            <a:r>
              <a:rPr sz="1300" b="0">
                <a:solidFill>
                  <a:srgbClr val="6B7280"/>
                </a:solidFill>
                <a:latin typeface="Calibri"/>
              </a:rPr>
              <a:t>UCO PSB Hackathon · Problem Statement 2 · Audio Forensics for Voice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THE PROBLEM</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A voice is no longer proof of identity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94560"/>
            <a:ext cx="2834640" cy="914400"/>
          </a:xfrm>
          <a:prstGeom prst="rect">
            <a:avLst/>
          </a:prstGeom>
          <a:noFill/>
        </p:spPr>
        <p:txBody>
          <a:bodyPr wrap="square" anchor="t">
            <a:spAutoFit/>
          </a:bodyPr>
          <a:lstStyle/>
          <a:p>
            <a:pPr algn="l">
              <a:lnSpc>
                <a:spcPct val="100000"/>
              </a:lnSpc>
            </a:pPr>
            <a:r>
              <a:rPr sz="4400" b="1">
                <a:solidFill>
                  <a:srgbClr val="1A1A1A"/>
                </a:solidFill>
                <a:latin typeface="Calibri Light"/>
              </a:rPr>
              <a:t>3 sec</a:t>
            </a:r>
          </a:p>
        </p:txBody>
      </p:sp>
      <p:sp>
        <p:nvSpPr>
          <p:cNvPr id="7" name="TextBox 6"/>
          <p:cNvSpPr txBox="1"/>
          <p:nvPr/>
        </p:nvSpPr>
        <p:spPr>
          <a:xfrm>
            <a:off x="96012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of audio is enough to clone a voice with ~85% similarity</a:t>
            </a:r>
          </a:p>
        </p:txBody>
      </p:sp>
      <p:sp>
        <p:nvSpPr>
          <p:cNvPr id="8" name="Rounded Rectangle 7"/>
          <p:cNvSpPr/>
          <p:nvPr/>
        </p:nvSpPr>
        <p:spPr>
          <a:xfrm>
            <a:off x="438912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63440" y="2194560"/>
            <a:ext cx="2834640" cy="914400"/>
          </a:xfrm>
          <a:prstGeom prst="rect">
            <a:avLst/>
          </a:prstGeom>
          <a:noFill/>
        </p:spPr>
        <p:txBody>
          <a:bodyPr wrap="square" anchor="t">
            <a:spAutoFit/>
          </a:bodyPr>
          <a:lstStyle/>
          <a:p>
            <a:pPr algn="l">
              <a:lnSpc>
                <a:spcPct val="100000"/>
              </a:lnSpc>
            </a:pPr>
            <a:r>
              <a:rPr sz="4400" b="1">
                <a:solidFill>
                  <a:srgbClr val="1A1A1A"/>
                </a:solidFill>
                <a:latin typeface="Calibri Light"/>
              </a:rPr>
              <a:t>+442%</a:t>
            </a:r>
          </a:p>
        </p:txBody>
      </p:sp>
      <p:sp>
        <p:nvSpPr>
          <p:cNvPr id="10" name="TextBox 9"/>
          <p:cNvSpPr txBox="1"/>
          <p:nvPr/>
        </p:nvSpPr>
        <p:spPr>
          <a:xfrm>
            <a:off x="466344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surge in voice-phishing attacks in 2025, driven by AI</a:t>
            </a:r>
          </a:p>
        </p:txBody>
      </p:sp>
      <p:sp>
        <p:nvSpPr>
          <p:cNvPr id="11" name="Rounded Rectangle 10"/>
          <p:cNvSpPr/>
          <p:nvPr/>
        </p:nvSpPr>
        <p:spPr>
          <a:xfrm>
            <a:off x="8092440" y="1920240"/>
            <a:ext cx="3383280" cy="2103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6760" y="2194560"/>
            <a:ext cx="2834640" cy="914400"/>
          </a:xfrm>
          <a:prstGeom prst="rect">
            <a:avLst/>
          </a:prstGeom>
          <a:noFill/>
        </p:spPr>
        <p:txBody>
          <a:bodyPr wrap="square" anchor="t">
            <a:spAutoFit/>
          </a:bodyPr>
          <a:lstStyle/>
          <a:p>
            <a:pPr algn="l">
              <a:lnSpc>
                <a:spcPct val="100000"/>
              </a:lnSpc>
            </a:pPr>
            <a:r>
              <a:rPr sz="4400" b="1">
                <a:solidFill>
                  <a:srgbClr val="C0392B"/>
                </a:solidFill>
                <a:latin typeface="Calibri Light"/>
              </a:rPr>
              <a:t>$40 B</a:t>
            </a:r>
          </a:p>
        </p:txBody>
      </p:sp>
      <p:sp>
        <p:nvSpPr>
          <p:cNvPr id="13" name="TextBox 12"/>
          <p:cNvSpPr txBox="1"/>
          <p:nvPr/>
        </p:nvSpPr>
        <p:spPr>
          <a:xfrm>
            <a:off x="8366760" y="3108960"/>
            <a:ext cx="2834640" cy="822960"/>
          </a:xfrm>
          <a:prstGeom prst="rect">
            <a:avLst/>
          </a:prstGeom>
          <a:noFill/>
        </p:spPr>
        <p:txBody>
          <a:bodyPr wrap="square" anchor="t">
            <a:spAutoFit/>
          </a:bodyPr>
          <a:lstStyle/>
          <a:p>
            <a:pPr algn="l">
              <a:lnSpc>
                <a:spcPct val="100000"/>
              </a:lnSpc>
            </a:pPr>
            <a:r>
              <a:rPr sz="1400" b="0">
                <a:solidFill>
                  <a:srgbClr val="6B7280"/>
                </a:solidFill>
                <a:latin typeface="Calibri"/>
              </a:rPr>
              <a:t>projected annual US losses to AI-enabled fraud by 2027 (Deloitte)</a:t>
            </a:r>
          </a:p>
        </p:txBody>
      </p:sp>
      <p:sp>
        <p:nvSpPr>
          <p:cNvPr id="14" name="TextBox 13"/>
          <p:cNvSpPr txBox="1"/>
          <p:nvPr/>
        </p:nvSpPr>
        <p:spPr>
          <a:xfrm>
            <a:off x="685800" y="4572000"/>
            <a:ext cx="10820095" cy="1280160"/>
          </a:xfrm>
          <a:prstGeom prst="rect">
            <a:avLst/>
          </a:prstGeom>
          <a:noFill/>
        </p:spPr>
        <p:txBody>
          <a:bodyPr wrap="square" anchor="t">
            <a:spAutoFit/>
          </a:bodyPr>
          <a:lstStyle/>
          <a:p>
            <a:pPr algn="l">
              <a:lnSpc>
                <a:spcPct val="115000"/>
              </a:lnSpc>
            </a:pPr>
            <a:r>
              <a:rPr sz="1700" b="0">
                <a:solidFill>
                  <a:srgbClr val="1A1A1A"/>
                </a:solidFill>
                <a:latin typeface="Calibri"/>
              </a:rPr>
              <a:t>Fraudsters clone a customer's voice to defeat voice-biometric checks and to socially engineer call-center agents into moving money.</a:t>
            </a:r>
          </a:p>
          <a:p>
            <a:pPr algn="l">
              <a:lnSpc>
                <a:spcPct val="115000"/>
              </a:lnSpc>
            </a:pPr>
            <a:r>
              <a:rPr sz="1700" b="0">
                <a:solidFill>
                  <a:srgbClr val="1A1A1A"/>
                </a:solidFill>
                <a:latin typeface="Calibri"/>
              </a:rPr>
              <a:t>Today's defenses — caller ID, phone-number metadata — are trivially spoofed. The audio itself is the only evidence that cannot lie.</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OUR SOLUTION</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Listening for synthesis, not identity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286000"/>
            <a:ext cx="2286000" cy="13716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1A1A1A"/>
                </a:solidFill>
                <a:latin typeface="Calibri"/>
              </a:rPr>
              <a:t>Live call audio</a:t>
            </a:r>
          </a:p>
          <a:p>
            <a:pPr algn="ctr"/>
            <a:r>
              <a:rPr sz="1000">
                <a:solidFill>
                  <a:srgbClr val="6B7280"/>
                </a:solidFill>
                <a:latin typeface="Calibri"/>
              </a:rPr>
              <a:t>500 ms chunks · 16 kHz</a:t>
            </a:r>
          </a:p>
        </p:txBody>
      </p:sp>
      <p:sp>
        <p:nvSpPr>
          <p:cNvPr id="6" name="Right Arrow 5"/>
          <p:cNvSpPr/>
          <p:nvPr/>
        </p:nvSpPr>
        <p:spPr>
          <a:xfrm>
            <a:off x="3044952" y="2898648"/>
            <a:ext cx="50292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2286000"/>
            <a:ext cx="3017520" cy="13716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VoiceShield pipeline</a:t>
            </a:r>
          </a:p>
          <a:p>
            <a:pPr algn="ctr"/>
            <a:r>
              <a:rPr sz="1000">
                <a:solidFill>
                  <a:srgbClr val="BFBFBF"/>
                </a:solidFill>
                <a:latin typeface="Calibri"/>
              </a:rPr>
              <a:t>forensic features · model ensemble · risk fusion</a:t>
            </a:r>
          </a:p>
        </p:txBody>
      </p:sp>
      <p:sp>
        <p:nvSpPr>
          <p:cNvPr id="8" name="Right Arrow 7"/>
          <p:cNvSpPr/>
          <p:nvPr/>
        </p:nvSpPr>
        <p:spPr>
          <a:xfrm>
            <a:off x="6702552" y="2898648"/>
            <a:ext cx="50292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269480" y="2286000"/>
            <a:ext cx="2377440" cy="13716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1A1A1A"/>
                </a:solidFill>
                <a:latin typeface="Calibri"/>
              </a:rPr>
              <a:t>Agent advisory</a:t>
            </a:r>
          </a:p>
          <a:p>
            <a:pPr algn="ctr"/>
            <a:r>
              <a:rPr sz="1000">
                <a:solidFill>
                  <a:srgbClr val="6B7280"/>
                </a:solidFill>
                <a:latin typeface="Calibri"/>
              </a:rPr>
              <a:t>verdict ≤ 10 s of audio</a:t>
            </a:r>
          </a:p>
        </p:txBody>
      </p:sp>
      <p:sp>
        <p:nvSpPr>
          <p:cNvPr id="10" name="Rounded Rectangle 9"/>
          <p:cNvSpPr/>
          <p:nvPr/>
        </p:nvSpPr>
        <p:spPr>
          <a:xfrm>
            <a:off x="9921240" y="2313432"/>
            <a:ext cx="1783080" cy="283464"/>
          </a:xfrm>
          <a:prstGeom prst="roundRect">
            <a:avLst>
              <a:gd name="adj" fmla="val 12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GREEN · continue</a:t>
            </a:r>
          </a:p>
        </p:txBody>
      </p:sp>
      <p:sp>
        <p:nvSpPr>
          <p:cNvPr id="11" name="Rounded Rectangle 10"/>
          <p:cNvSpPr/>
          <p:nvPr/>
        </p:nvSpPr>
        <p:spPr>
          <a:xfrm>
            <a:off x="9921240" y="2660904"/>
            <a:ext cx="1783080" cy="283464"/>
          </a:xfrm>
          <a:prstGeom prst="roundRect">
            <a:avLst>
              <a:gd name="adj" fmla="val 12000"/>
            </a:avLst>
          </a:prstGeom>
          <a:solidFill>
            <a:srgbClr val="B4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AMBER · escalate</a:t>
            </a:r>
          </a:p>
        </p:txBody>
      </p:sp>
      <p:sp>
        <p:nvSpPr>
          <p:cNvPr id="12" name="Rounded Rectangle 11"/>
          <p:cNvSpPr/>
          <p:nvPr/>
        </p:nvSpPr>
        <p:spPr>
          <a:xfrm>
            <a:off x="9921240" y="3008376"/>
            <a:ext cx="1783080" cy="283464"/>
          </a:xfrm>
          <a:prstGeom prst="roundRect">
            <a:avLst>
              <a:gd name="adj" fmla="val 12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RED · terminate</a:t>
            </a:r>
          </a:p>
        </p:txBody>
      </p:sp>
      <p:sp>
        <p:nvSpPr>
          <p:cNvPr id="13" name="Rounded Rectangle 12"/>
          <p:cNvSpPr/>
          <p:nvPr/>
        </p:nvSpPr>
        <p:spPr>
          <a:xfrm>
            <a:off x="9921240" y="3355848"/>
            <a:ext cx="1783080" cy="283464"/>
          </a:xfrm>
          <a:prstGeom prst="roundRect">
            <a:avLst>
              <a:gd name="adj" fmla="val 12000"/>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a:solidFill>
                  <a:srgbClr val="FFFFFF"/>
                </a:solidFill>
                <a:latin typeface="Calibri"/>
              </a:rPr>
              <a:t>GREY · poor audio</a:t>
            </a:r>
          </a:p>
        </p:txBody>
      </p:sp>
      <p:sp>
        <p:nvSpPr>
          <p:cNvPr id="14" name="TextBox 13"/>
          <p:cNvSpPr txBox="1"/>
          <p:nvPr/>
        </p:nvSpPr>
        <p:spPr>
          <a:xfrm>
            <a:off x="685800" y="4297680"/>
            <a:ext cx="10820095" cy="1737360"/>
          </a:xfrm>
          <a:prstGeom prst="rect">
            <a:avLst/>
          </a:prstGeom>
          <a:noFill/>
        </p:spPr>
        <p:txBody>
          <a:bodyPr wrap="square">
            <a:spAutoFit/>
          </a:bodyPr>
          <a:lstStyle/>
          <a:p>
            <a:pPr>
              <a:lnSpc>
                <a:spcPct val="105000"/>
              </a:lnSpc>
              <a:spcAft>
                <a:spcPts val="600"/>
              </a:spcAft>
            </a:pPr>
            <a:r>
              <a:rPr sz="1600" b="1">
                <a:solidFill>
                  <a:srgbClr val="1A1A1A"/>
                </a:solidFill>
                <a:latin typeface="Calibri"/>
              </a:rPr>
              <a:t>—  Advisory, not judge.</a:t>
            </a:r>
            <a:r>
              <a:rPr sz="1600">
                <a:solidFill>
                  <a:srgbClr val="6B7280"/>
                </a:solidFill>
                <a:latin typeface="Calibri"/>
              </a:rPr>
              <a:t>  The agent stays in control; VoiceShield names the evidence behind every alert.</a:t>
            </a:r>
          </a:p>
          <a:p>
            <a:pPr>
              <a:lnSpc>
                <a:spcPct val="105000"/>
              </a:lnSpc>
              <a:spcAft>
                <a:spcPts val="600"/>
              </a:spcAft>
            </a:pPr>
            <a:r>
              <a:rPr sz="1600" b="1">
                <a:solidFill>
                  <a:srgbClr val="1A1A1A"/>
                </a:solidFill>
                <a:latin typeface="Calibri"/>
              </a:rPr>
              <a:t>—  Privacy by construction.</a:t>
            </a:r>
            <a:r>
              <a:rPr sz="1600">
                <a:solidFill>
                  <a:srgbClr val="6B7280"/>
                </a:solidFill>
                <a:latin typeface="Calibri"/>
              </a:rPr>
              <a:t>  A 10-second in-memory rolling buffer — no call recording ever touches disk.</a:t>
            </a:r>
          </a:p>
          <a:p>
            <a:pPr>
              <a:lnSpc>
                <a:spcPct val="105000"/>
              </a:lnSpc>
              <a:spcAft>
                <a:spcPts val="600"/>
              </a:spcAft>
            </a:pPr>
            <a:r>
              <a:rPr sz="1600" b="1">
                <a:solidFill>
                  <a:srgbClr val="1A1A1A"/>
                </a:solidFill>
                <a:latin typeface="Calibri"/>
              </a:rPr>
              <a:t>—  Explainable.</a:t>
            </a:r>
            <a:r>
              <a:rPr sz="1600">
                <a:solidFill>
                  <a:srgbClr val="6B7280"/>
                </a:solidFill>
                <a:latin typeface="Calibri"/>
              </a:rPr>
              <a:t>  Each alert cites the artifact: phase discontinuity, over-smooth pitch, vocoder band energy.</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HOW IT WORKS</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Two-stage cascade: cheap screening, deep confirmation</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Rolling buffer</a:t>
            </a:r>
          </a:p>
          <a:p>
            <a:pPr algn="ctr"/>
            <a:r>
              <a:rPr sz="1000">
                <a:solidFill>
                  <a:srgbClr val="6B7280"/>
                </a:solidFill>
                <a:latin typeface="Calibri"/>
              </a:rPr>
              <a:t>10 s in-memory</a:t>
            </a:r>
          </a:p>
        </p:txBody>
      </p:sp>
      <p:sp>
        <p:nvSpPr>
          <p:cNvPr id="6" name="Right Arrow 5"/>
          <p:cNvSpPr/>
          <p:nvPr/>
        </p:nvSpPr>
        <p:spPr>
          <a:xfrm>
            <a:off x="2688336"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035808"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SNR + VAD gate</a:t>
            </a:r>
          </a:p>
          <a:p>
            <a:pPr algn="ctr"/>
            <a:r>
              <a:rPr sz="1000">
                <a:solidFill>
                  <a:srgbClr val="6B7280"/>
                </a:solidFill>
                <a:latin typeface="Calibri"/>
              </a:rPr>
              <a:t>poor audio → GREY</a:t>
            </a:r>
          </a:p>
        </p:txBody>
      </p:sp>
      <p:sp>
        <p:nvSpPr>
          <p:cNvPr id="8" name="Right Arrow 7"/>
          <p:cNvSpPr/>
          <p:nvPr/>
        </p:nvSpPr>
        <p:spPr>
          <a:xfrm>
            <a:off x="5038344"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385816"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Forensic features</a:t>
            </a:r>
          </a:p>
          <a:p>
            <a:pPr algn="ctr"/>
            <a:r>
              <a:rPr sz="1000">
                <a:solidFill>
                  <a:srgbClr val="6B7280"/>
                </a:solidFill>
                <a:latin typeface="Calibri"/>
              </a:rPr>
              <a:t>9 artifact panels</a:t>
            </a:r>
          </a:p>
        </p:txBody>
      </p:sp>
      <p:sp>
        <p:nvSpPr>
          <p:cNvPr id="10" name="Right Arrow 9"/>
          <p:cNvSpPr/>
          <p:nvPr/>
        </p:nvSpPr>
        <p:spPr>
          <a:xfrm>
            <a:off x="7388352" y="2377440"/>
            <a:ext cx="310896"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35824" y="1965960"/>
            <a:ext cx="1965960" cy="96012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Stage 1 screen</a:t>
            </a:r>
          </a:p>
          <a:p>
            <a:pPr algn="ctr"/>
            <a:r>
              <a:rPr sz="1000">
                <a:solidFill>
                  <a:srgbClr val="6B7280"/>
                </a:solidFill>
                <a:latin typeface="Calibri"/>
              </a:rPr>
              <a:t>AASIST-L, every chunk</a:t>
            </a:r>
          </a:p>
        </p:txBody>
      </p:sp>
      <p:sp>
        <p:nvSpPr>
          <p:cNvPr id="12" name="TextBox 11"/>
          <p:cNvSpPr txBox="1"/>
          <p:nvPr/>
        </p:nvSpPr>
        <p:spPr>
          <a:xfrm>
            <a:off x="7086600" y="3035808"/>
            <a:ext cx="3291840" cy="320040"/>
          </a:xfrm>
          <a:prstGeom prst="rect">
            <a:avLst/>
          </a:prstGeom>
          <a:noFill/>
        </p:spPr>
        <p:txBody>
          <a:bodyPr wrap="square" anchor="t">
            <a:spAutoFit/>
          </a:bodyPr>
          <a:lstStyle/>
          <a:p>
            <a:pPr algn="ctr">
              <a:lnSpc>
                <a:spcPct val="100000"/>
              </a:lnSpc>
            </a:pPr>
            <a:r>
              <a:rPr sz="1100" b="0">
                <a:solidFill>
                  <a:srgbClr val="6B7280"/>
                </a:solidFill>
                <a:latin typeface="Calibri"/>
              </a:rPr>
              <a:t>suspicion ≥ threshold — or periodic probe</a:t>
            </a:r>
          </a:p>
        </p:txBody>
      </p:sp>
      <p:sp>
        <p:nvSpPr>
          <p:cNvPr id="13" name="Down Arrow 12"/>
          <p:cNvSpPr/>
          <p:nvPr/>
        </p:nvSpPr>
        <p:spPr>
          <a:xfrm>
            <a:off x="8549640" y="3310128"/>
            <a:ext cx="292608" cy="402336"/>
          </a:xfrm>
          <a:prstGeom prst="downArrow">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77640" y="3657600"/>
            <a:ext cx="5669280" cy="155448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Stage 2 — deep ensemble</a:t>
            </a:r>
          </a:p>
          <a:p>
            <a:pPr algn="ctr"/>
            <a:r>
              <a:rPr sz="1200">
                <a:solidFill>
                  <a:srgbClr val="BFBFBF"/>
                </a:solidFill>
                <a:latin typeface="Calibri"/>
              </a:rPr>
              <a:t>XLS-R 300M · WavLM · phase/pitch rules — three input representations, two training domains</a:t>
            </a:r>
          </a:p>
        </p:txBody>
      </p:sp>
      <p:sp>
        <p:nvSpPr>
          <p:cNvPr id="15" name="Right Arrow 14"/>
          <p:cNvSpPr/>
          <p:nvPr/>
        </p:nvSpPr>
        <p:spPr>
          <a:xfrm>
            <a:off x="9701784" y="4315968"/>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195560" y="3657600"/>
            <a:ext cx="1600200" cy="15544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1A1A1A"/>
                </a:solidFill>
                <a:latin typeface="Calibri"/>
              </a:rPr>
              <a:t>Risk fusion</a:t>
            </a:r>
          </a:p>
          <a:p>
            <a:pPr algn="ctr"/>
            <a:r>
              <a:rPr sz="1000">
                <a:solidFill>
                  <a:srgbClr val="6B7280"/>
                </a:solidFill>
                <a:latin typeface="Calibri"/>
              </a:rPr>
              <a:t>weighted + peak evidence · hysteresis</a:t>
            </a:r>
          </a:p>
        </p:txBody>
      </p:sp>
      <p:sp>
        <p:nvSpPr>
          <p:cNvPr id="17" name="TextBox 16"/>
          <p:cNvSpPr txBox="1"/>
          <p:nvPr/>
        </p:nvSpPr>
        <p:spPr>
          <a:xfrm>
            <a:off x="685800" y="5577840"/>
            <a:ext cx="10820095" cy="731520"/>
          </a:xfrm>
          <a:prstGeom prst="rect">
            <a:avLst/>
          </a:prstGeom>
          <a:noFill/>
        </p:spPr>
        <p:txBody>
          <a:bodyPr wrap="square" anchor="t">
            <a:spAutoFit/>
          </a:bodyPr>
          <a:lstStyle/>
          <a:p>
            <a:pPr algn="l">
              <a:lnSpc>
                <a:spcPct val="115000"/>
              </a:lnSpc>
            </a:pPr>
            <a:r>
              <a:rPr sz="1400" b="0">
                <a:solidFill>
                  <a:srgbClr val="6B7280"/>
                </a:solidFill>
                <a:latin typeface="Calibri"/>
              </a:rPr>
              <a:t>Stage 1 screens every 500 ms chunk on-budget; the heavyweight ensemble engages only on suspicion (plus a periodic probe so a weak screen can never hide an attack). GREY always wins: no risk claims without fresh speech.</a:t>
            </a:r>
          </a:p>
        </p:txBody>
      </p:sp>
      <p:sp>
        <p:nvSpPr>
          <p:cNvPr id="18" name="TextBox 17"/>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9" name="TextBox 18"/>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THE ENSEMBLE</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Diversity beats any single detector</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MODEL</a:t>
            </a:r>
          </a:p>
        </p:txBody>
      </p:sp>
      <p:sp>
        <p:nvSpPr>
          <p:cNvPr id="6" name="TextBox 5"/>
          <p:cNvSpPr txBox="1"/>
          <p:nvPr/>
        </p:nvSpPr>
        <p:spPr>
          <a:xfrm>
            <a:off x="269748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WHAT IT IS</a:t>
            </a:r>
          </a:p>
        </p:txBody>
      </p:sp>
      <p:sp>
        <p:nvSpPr>
          <p:cNvPr id="7" name="TextBox 6"/>
          <p:cNvSpPr txBox="1"/>
          <p:nvPr/>
        </p:nvSpPr>
        <p:spPr>
          <a:xfrm>
            <a:off x="544068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WHAT IT CATCHES</a:t>
            </a:r>
          </a:p>
        </p:txBody>
      </p:sp>
      <p:sp>
        <p:nvSpPr>
          <p:cNvPr id="8" name="TextBox 7"/>
          <p:cNvSpPr txBox="1"/>
          <p:nvPr/>
        </p:nvSpPr>
        <p:spPr>
          <a:xfrm>
            <a:off x="9189720" y="1828800"/>
            <a:ext cx="2377440" cy="274320"/>
          </a:xfrm>
          <a:prstGeom prst="rect">
            <a:avLst/>
          </a:prstGeom>
          <a:noFill/>
        </p:spPr>
        <p:txBody>
          <a:bodyPr wrap="square" anchor="t">
            <a:spAutoFit/>
          </a:bodyPr>
          <a:lstStyle/>
          <a:p>
            <a:pPr algn="l">
              <a:lnSpc>
                <a:spcPct val="100000"/>
              </a:lnSpc>
            </a:pPr>
            <a:r>
              <a:rPr sz="1100" b="1">
                <a:solidFill>
                  <a:srgbClr val="6B7280"/>
                </a:solidFill>
                <a:latin typeface="Calibri"/>
              </a:rPr>
              <a:t>TRAINED ON</a:t>
            </a:r>
          </a:p>
        </p:txBody>
      </p:sp>
      <p:sp>
        <p:nvSpPr>
          <p:cNvPr id="9" name="Rectangle 8"/>
          <p:cNvSpPr/>
          <p:nvPr/>
        </p:nvSpPr>
        <p:spPr>
          <a:xfrm>
            <a:off x="548640" y="2167128"/>
            <a:ext cx="11094415" cy="566928"/>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212848"/>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MMS-300M (NII)</a:t>
            </a:r>
          </a:p>
        </p:txBody>
      </p:sp>
      <p:sp>
        <p:nvSpPr>
          <p:cNvPr id="11" name="TextBox 10"/>
          <p:cNvSpPr txBox="1"/>
          <p:nvPr/>
        </p:nvSpPr>
        <p:spPr>
          <a:xfrm>
            <a:off x="2697480" y="2212848"/>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multilingual SSL, 74k h + RawBoost</a:t>
            </a:r>
          </a:p>
        </p:txBody>
      </p:sp>
      <p:sp>
        <p:nvSpPr>
          <p:cNvPr id="12" name="TextBox 11"/>
          <p:cNvSpPr txBox="1"/>
          <p:nvPr/>
        </p:nvSpPr>
        <p:spPr>
          <a:xfrm>
            <a:off x="5440680" y="2212848"/>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all families: GAN vocoders, TTS, VC, wild fakes</a:t>
            </a:r>
          </a:p>
        </p:txBody>
      </p:sp>
      <p:sp>
        <p:nvSpPr>
          <p:cNvPr id="13" name="TextBox 12"/>
          <p:cNvSpPr txBox="1"/>
          <p:nvPr/>
        </p:nvSpPr>
        <p:spPr>
          <a:xfrm>
            <a:off x="9189720" y="2212848"/>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benchmark AUC 0.997</a:t>
            </a:r>
          </a:p>
        </p:txBody>
      </p:sp>
      <p:sp>
        <p:nvSpPr>
          <p:cNvPr id="14" name="TextBox 13"/>
          <p:cNvSpPr txBox="1"/>
          <p:nvPr/>
        </p:nvSpPr>
        <p:spPr>
          <a:xfrm>
            <a:off x="685800" y="2798064"/>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XLS-R 300M</a:t>
            </a:r>
          </a:p>
        </p:txBody>
      </p:sp>
      <p:sp>
        <p:nvSpPr>
          <p:cNvPr id="15" name="TextBox 14"/>
          <p:cNvSpPr txBox="1"/>
          <p:nvPr/>
        </p:nvSpPr>
        <p:spPr>
          <a:xfrm>
            <a:off x="2697480" y="2798064"/>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self-supervised speech model</a:t>
            </a:r>
          </a:p>
        </p:txBody>
      </p:sp>
      <p:sp>
        <p:nvSpPr>
          <p:cNvPr id="16" name="TextBox 15"/>
          <p:cNvSpPr txBox="1"/>
          <p:nvPr/>
        </p:nvSpPr>
        <p:spPr>
          <a:xfrm>
            <a:off x="5440680" y="2798064"/>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vocoder fingerprints in embeddings</a:t>
            </a:r>
          </a:p>
        </p:txBody>
      </p:sp>
      <p:sp>
        <p:nvSpPr>
          <p:cNvPr id="17" name="TextBox 16"/>
          <p:cNvSpPr txBox="1"/>
          <p:nvPr/>
        </p:nvSpPr>
        <p:spPr>
          <a:xfrm>
            <a:off x="9189720" y="2798064"/>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benchmark AUC 0.73</a:t>
            </a:r>
          </a:p>
        </p:txBody>
      </p:sp>
      <p:sp>
        <p:nvSpPr>
          <p:cNvPr id="18" name="Rectangle 17"/>
          <p:cNvSpPr/>
          <p:nvPr/>
        </p:nvSpPr>
        <p:spPr>
          <a:xfrm>
            <a:off x="548640" y="3337560"/>
            <a:ext cx="11094415" cy="566928"/>
          </a:xfrm>
          <a:prstGeom prst="rect">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383280"/>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WavLM-base</a:t>
            </a:r>
          </a:p>
        </p:txBody>
      </p:sp>
      <p:sp>
        <p:nvSpPr>
          <p:cNvPr id="20" name="TextBox 19"/>
          <p:cNvSpPr txBox="1"/>
          <p:nvPr/>
        </p:nvSpPr>
        <p:spPr>
          <a:xfrm>
            <a:off x="2697480" y="3383280"/>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self-supervised, In-the-Wild</a:t>
            </a:r>
          </a:p>
        </p:txBody>
      </p:sp>
      <p:sp>
        <p:nvSpPr>
          <p:cNvPr id="21" name="TextBox 20"/>
          <p:cNvSpPr txBox="1"/>
          <p:nvPr/>
        </p:nvSpPr>
        <p:spPr>
          <a:xfrm>
            <a:off x="5440680" y="3383280"/>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modern commercial TTS (ElevenLabs-class)</a:t>
            </a:r>
          </a:p>
        </p:txBody>
      </p:sp>
      <p:sp>
        <p:nvSpPr>
          <p:cNvPr id="22" name="TextBox 21"/>
          <p:cNvSpPr txBox="1"/>
          <p:nvPr/>
        </p:nvSpPr>
        <p:spPr>
          <a:xfrm>
            <a:off x="9189720" y="3383280"/>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benchmark AUC 0.87</a:t>
            </a:r>
          </a:p>
        </p:txBody>
      </p:sp>
      <p:sp>
        <p:nvSpPr>
          <p:cNvPr id="23" name="TextBox 22"/>
          <p:cNvSpPr txBox="1"/>
          <p:nvPr/>
        </p:nvSpPr>
        <p:spPr>
          <a:xfrm>
            <a:off x="685800" y="3968496"/>
            <a:ext cx="1920240" cy="457200"/>
          </a:xfrm>
          <a:prstGeom prst="rect">
            <a:avLst/>
          </a:prstGeom>
          <a:noFill/>
        </p:spPr>
        <p:txBody>
          <a:bodyPr wrap="square" anchor="t">
            <a:spAutoFit/>
          </a:bodyPr>
          <a:lstStyle/>
          <a:p>
            <a:pPr algn="l">
              <a:lnSpc>
                <a:spcPct val="100000"/>
              </a:lnSpc>
            </a:pPr>
            <a:r>
              <a:rPr sz="1400" b="1">
                <a:solidFill>
                  <a:srgbClr val="1A1A1A"/>
                </a:solidFill>
                <a:latin typeface="Calibri"/>
              </a:rPr>
              <a:t>Phase / Pitch</a:t>
            </a:r>
          </a:p>
        </p:txBody>
      </p:sp>
      <p:sp>
        <p:nvSpPr>
          <p:cNvPr id="24" name="TextBox 23"/>
          <p:cNvSpPr txBox="1"/>
          <p:nvPr/>
        </p:nvSpPr>
        <p:spPr>
          <a:xfrm>
            <a:off x="2697480" y="3968496"/>
            <a:ext cx="2651760" cy="457200"/>
          </a:xfrm>
          <a:prstGeom prst="rect">
            <a:avLst/>
          </a:prstGeom>
          <a:noFill/>
        </p:spPr>
        <p:txBody>
          <a:bodyPr wrap="square" anchor="t">
            <a:spAutoFit/>
          </a:bodyPr>
          <a:lstStyle/>
          <a:p>
            <a:pPr algn="l">
              <a:lnSpc>
                <a:spcPct val="100000"/>
              </a:lnSpc>
            </a:pPr>
            <a:r>
              <a:rPr sz="1300" b="0">
                <a:solidFill>
                  <a:srgbClr val="6B7280"/>
                </a:solidFill>
                <a:latin typeface="Calibri"/>
              </a:rPr>
              <a:t>DSP rules — fully explainable</a:t>
            </a:r>
          </a:p>
        </p:txBody>
      </p:sp>
      <p:sp>
        <p:nvSpPr>
          <p:cNvPr id="25" name="TextBox 24"/>
          <p:cNvSpPr txBox="1"/>
          <p:nvPr/>
        </p:nvSpPr>
        <p:spPr>
          <a:xfrm>
            <a:off x="5440680" y="3968496"/>
            <a:ext cx="3657600" cy="457200"/>
          </a:xfrm>
          <a:prstGeom prst="rect">
            <a:avLst/>
          </a:prstGeom>
          <a:noFill/>
        </p:spPr>
        <p:txBody>
          <a:bodyPr wrap="square" anchor="t">
            <a:spAutoFit/>
          </a:bodyPr>
          <a:lstStyle/>
          <a:p>
            <a:pPr algn="l">
              <a:lnSpc>
                <a:spcPct val="100000"/>
              </a:lnSpc>
            </a:pPr>
            <a:r>
              <a:rPr sz="1300" b="0">
                <a:solidFill>
                  <a:srgbClr val="1A1A1A"/>
                </a:solidFill>
                <a:latin typeface="Calibri"/>
              </a:rPr>
              <a:t>artifact naming for the agent, zero fusion weight</a:t>
            </a:r>
          </a:p>
        </p:txBody>
      </p:sp>
      <p:sp>
        <p:nvSpPr>
          <p:cNvPr id="26" name="TextBox 25"/>
          <p:cNvSpPr txBox="1"/>
          <p:nvPr/>
        </p:nvSpPr>
        <p:spPr>
          <a:xfrm>
            <a:off x="9189720" y="3968496"/>
            <a:ext cx="2377440" cy="457200"/>
          </a:xfrm>
          <a:prstGeom prst="rect">
            <a:avLst/>
          </a:prstGeom>
          <a:noFill/>
        </p:spPr>
        <p:txBody>
          <a:bodyPr wrap="square" anchor="t">
            <a:spAutoFit/>
          </a:bodyPr>
          <a:lstStyle/>
          <a:p>
            <a:pPr algn="l">
              <a:lnSpc>
                <a:spcPct val="100000"/>
              </a:lnSpc>
            </a:pPr>
            <a:r>
              <a:rPr sz="1200" b="0">
                <a:solidFill>
                  <a:srgbClr val="6B7280"/>
                </a:solidFill>
                <a:latin typeface="Calibri"/>
              </a:rPr>
              <a:t>explainability layer</a:t>
            </a:r>
          </a:p>
        </p:txBody>
      </p:sp>
      <p:sp>
        <p:nvSpPr>
          <p:cNvPr id="27" name="TextBox 26"/>
          <p:cNvSpPr txBox="1"/>
          <p:nvPr/>
        </p:nvSpPr>
        <p:spPr>
          <a:xfrm>
            <a:off x="685800" y="4709160"/>
            <a:ext cx="10820095" cy="1097280"/>
          </a:xfrm>
          <a:prstGeom prst="rect">
            <a:avLst/>
          </a:prstGeom>
          <a:noFill/>
        </p:spPr>
        <p:txBody>
          <a:bodyPr wrap="square" anchor="t">
            <a:spAutoFit/>
          </a:bodyPr>
          <a:lstStyle/>
          <a:p>
            <a:pPr algn="l">
              <a:lnSpc>
                <a:spcPct val="115000"/>
              </a:lnSpc>
            </a:pPr>
            <a:r>
              <a:rPr sz="1500" b="0">
                <a:solidFill>
                  <a:srgbClr val="1A1A1A"/>
                </a:solidFill>
                <a:latin typeface="Calibri"/>
              </a:rPr>
              <a:t>Selected by measurement, not marketing: we benchmarked 8 candidate detectors on 496 clips spanning 7 GAN vocoders (WaveFake), 100+ TTS/VC systems (ASVspoof 2021), wild internet deepfakes, and our own generated clones. Fusion weights and alert thresholds come from those measured score distributions.</a:t>
            </a:r>
          </a:p>
        </p:txBody>
      </p:sp>
      <p:sp>
        <p:nvSpPr>
          <p:cNvPr id="28" name="TextBox 27"/>
          <p:cNvSpPr txBox="1"/>
          <p:nvPr/>
        </p:nvSpPr>
        <p:spPr>
          <a:xfrm>
            <a:off x="685800" y="5715000"/>
            <a:ext cx="10820095" cy="548640"/>
          </a:xfrm>
          <a:prstGeom prst="rect">
            <a:avLst/>
          </a:prstGeom>
          <a:noFill/>
        </p:spPr>
        <p:txBody>
          <a:bodyPr wrap="square" anchor="t">
            <a:spAutoFit/>
          </a:bodyPr>
          <a:lstStyle/>
          <a:p>
            <a:pPr algn="l">
              <a:lnSpc>
                <a:spcPct val="110000"/>
              </a:lnSpc>
            </a:pPr>
            <a:r>
              <a:rPr sz="1200" b="0">
                <a:solidFill>
                  <a:srgbClr val="6B7280"/>
                </a:solidFill>
                <a:latin typeface="Calibri"/>
              </a:rPr>
              <a:t>Every component earns its fusion weight through validation. The same benchmark retired our original Stage 1 screener (AASIST-L: AUC 0.33 on real audio) and keeps the replay module at zero weight until calibrated.</a:t>
            </a:r>
          </a:p>
        </p:txBody>
      </p:sp>
      <p:sp>
        <p:nvSpPr>
          <p:cNvPr id="29" name="TextBox 28"/>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30" name="TextBox 29"/>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WHAT MAKES IT DIFFERENT</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Four properties competitors don't combine</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7451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7568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Explainable &amp; multilingual</a:t>
            </a:r>
          </a:p>
        </p:txBody>
      </p:sp>
      <p:sp>
        <p:nvSpPr>
          <p:cNvPr id="7" name="TextBox 6"/>
          <p:cNvSpPr txBox="1"/>
          <p:nvPr/>
        </p:nvSpPr>
        <p:spPr>
          <a:xfrm>
            <a:off x="960120" y="249631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Every AMBER/RED names its artifact; validated on Hindi as well as English (EER 0%). Agents act on reasons, not black-box scores.</a:t>
            </a:r>
          </a:p>
        </p:txBody>
      </p:sp>
      <p:sp>
        <p:nvSpPr>
          <p:cNvPr id="8" name="Rounded Rectangle 7"/>
          <p:cNvSpPr/>
          <p:nvPr/>
        </p:nvSpPr>
        <p:spPr>
          <a:xfrm>
            <a:off x="6309360" y="187451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07568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Privacy by design</a:t>
            </a:r>
          </a:p>
        </p:txBody>
      </p:sp>
      <p:sp>
        <p:nvSpPr>
          <p:cNvPr id="10" name="TextBox 9"/>
          <p:cNvSpPr txBox="1"/>
          <p:nvPr/>
        </p:nvSpPr>
        <p:spPr>
          <a:xfrm>
            <a:off x="6583680" y="249631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10-second in-memory buffer, zero persistent recording. Evidence saved only on explicit save-for-audit — aligned with Indian data-privacy expectations.</a:t>
            </a:r>
          </a:p>
        </p:txBody>
      </p:sp>
      <p:sp>
        <p:nvSpPr>
          <p:cNvPr id="11" name="Rounded Rectangle 10"/>
          <p:cNvSpPr/>
          <p:nvPr/>
        </p:nvSpPr>
        <p:spPr>
          <a:xfrm>
            <a:off x="685800" y="397763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17880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Same voice, still human</a:t>
            </a:r>
          </a:p>
        </p:txBody>
      </p:sp>
      <p:sp>
        <p:nvSpPr>
          <p:cNvPr id="13" name="TextBox 12"/>
          <p:cNvSpPr txBox="1"/>
          <p:nvPr/>
        </p:nvSpPr>
        <p:spPr>
          <a:xfrm>
            <a:off x="960120" y="459943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Beyond deepfake detection, ECAPA speaker-tracking flags a mid-call takeover or splice — the human-fraudster case biometrics miss.</a:t>
            </a:r>
          </a:p>
        </p:txBody>
      </p:sp>
      <p:sp>
        <p:nvSpPr>
          <p:cNvPr id="14" name="Rounded Rectangle 13"/>
          <p:cNvSpPr/>
          <p:nvPr/>
        </p:nvSpPr>
        <p:spPr>
          <a:xfrm>
            <a:off x="6309360" y="3977639"/>
            <a:ext cx="5257800" cy="178308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4178807"/>
            <a:ext cx="4709160" cy="365760"/>
          </a:xfrm>
          <a:prstGeom prst="rect">
            <a:avLst/>
          </a:prstGeom>
          <a:noFill/>
        </p:spPr>
        <p:txBody>
          <a:bodyPr wrap="square" anchor="t">
            <a:spAutoFit/>
          </a:bodyPr>
          <a:lstStyle/>
          <a:p>
            <a:pPr algn="l">
              <a:lnSpc>
                <a:spcPct val="100000"/>
              </a:lnSpc>
            </a:pPr>
            <a:r>
              <a:rPr sz="1700" b="1">
                <a:solidFill>
                  <a:srgbClr val="1A1A1A"/>
                </a:solidFill>
                <a:latin typeface="Calibri"/>
              </a:rPr>
              <a:t>Court-ready evidence</a:t>
            </a:r>
          </a:p>
        </p:txBody>
      </p:sp>
      <p:sp>
        <p:nvSpPr>
          <p:cNvPr id="16" name="TextBox 15"/>
          <p:cNvSpPr txBox="1"/>
          <p:nvPr/>
        </p:nvSpPr>
        <p:spPr>
          <a:xfrm>
            <a:off x="6583680" y="4599431"/>
            <a:ext cx="4709160" cy="1097280"/>
          </a:xfrm>
          <a:prstGeom prst="rect">
            <a:avLst/>
          </a:prstGeom>
          <a:noFill/>
        </p:spPr>
        <p:txBody>
          <a:bodyPr wrap="square" anchor="t">
            <a:spAutoFit/>
          </a:bodyPr>
          <a:lstStyle/>
          <a:p>
            <a:pPr algn="l">
              <a:lnSpc>
                <a:spcPct val="110000"/>
              </a:lnSpc>
            </a:pPr>
            <a:r>
              <a:rPr sz="1300" b="0">
                <a:solidFill>
                  <a:srgbClr val="6B7280"/>
                </a:solidFill>
                <a:latin typeface="Calibri"/>
              </a:rPr>
              <a:t>One click exports spectrogram + phase heatmap, SHA-256 audio hash, and the full per-model score envelope — a tamper-evident fraud case file.</a:t>
            </a:r>
          </a:p>
        </p:txBody>
      </p:sp>
      <p:sp>
        <p:nvSpPr>
          <p:cNvPr id="17" name="TextBox 16"/>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8" name="TextBox 17"/>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MEASURED, NOT PROMISED</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Validation results on real audio</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92808"/>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Detection accuracy — EER (standard anti-spoof metric)</a:t>
            </a:r>
          </a:p>
        </p:txBody>
      </p:sp>
      <p:sp>
        <p:nvSpPr>
          <p:cNvPr id="7" name="TextBox 6"/>
          <p:cNvSpPr txBox="1"/>
          <p:nvPr/>
        </p:nvSpPr>
        <p:spPr>
          <a:xfrm>
            <a:off x="7818120" y="1883664"/>
            <a:ext cx="3749039" cy="411480"/>
          </a:xfrm>
          <a:prstGeom prst="rect">
            <a:avLst/>
          </a:prstGeom>
          <a:noFill/>
        </p:spPr>
        <p:txBody>
          <a:bodyPr wrap="square" anchor="t">
            <a:spAutoFit/>
          </a:bodyPr>
          <a:lstStyle/>
          <a:p>
            <a:pPr algn="l">
              <a:lnSpc>
                <a:spcPct val="100000"/>
              </a:lnSpc>
            </a:pPr>
            <a:r>
              <a:rPr sz="1500" b="1">
                <a:solidFill>
                  <a:srgbClr val="C0392B"/>
                </a:solidFill>
                <a:latin typeface="Calibri"/>
              </a:rPr>
              <a:t>3.1%  ·  AUC 0.997</a:t>
            </a:r>
          </a:p>
        </p:txBody>
      </p:sp>
      <p:sp>
        <p:nvSpPr>
          <p:cNvPr id="8" name="Rounded Rectangle 7"/>
          <p:cNvSpPr/>
          <p:nvPr/>
        </p:nvSpPr>
        <p:spPr>
          <a:xfrm>
            <a:off x="685800" y="2441448"/>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551176"/>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Fakes flagged RED ≤ 10 s (323 fakes ≥4 s: GAN, TTS, VC, wild, ElevenLabs)</a:t>
            </a:r>
          </a:p>
        </p:txBody>
      </p:sp>
      <p:sp>
        <p:nvSpPr>
          <p:cNvPr id="10" name="TextBox 9"/>
          <p:cNvSpPr txBox="1"/>
          <p:nvPr/>
        </p:nvSpPr>
        <p:spPr>
          <a:xfrm>
            <a:off x="7818120" y="2542032"/>
            <a:ext cx="3749039" cy="411480"/>
          </a:xfrm>
          <a:prstGeom prst="rect">
            <a:avLst/>
          </a:prstGeom>
          <a:noFill/>
        </p:spPr>
        <p:txBody>
          <a:bodyPr wrap="square" anchor="t">
            <a:spAutoFit/>
          </a:bodyPr>
          <a:lstStyle/>
          <a:p>
            <a:pPr algn="l">
              <a:lnSpc>
                <a:spcPct val="100000"/>
              </a:lnSpc>
            </a:pPr>
            <a:r>
              <a:rPr sz="1500" b="1">
                <a:solidFill>
                  <a:srgbClr val="C0392B"/>
                </a:solidFill>
                <a:latin typeface="Calibri"/>
              </a:rPr>
              <a:t>99%  ·  median RED 2.0 s</a:t>
            </a:r>
          </a:p>
        </p:txBody>
      </p:sp>
      <p:sp>
        <p:nvSpPr>
          <p:cNvPr id="11" name="Rounded Rectangle 10"/>
          <p:cNvSpPr/>
          <p:nvPr/>
        </p:nvSpPr>
        <p:spPr>
          <a:xfrm>
            <a:off x="685800" y="3099816"/>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209544"/>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Multilingual — Hindi (FLEURS genuine vs MMS-TTS fakes)</a:t>
            </a:r>
          </a:p>
        </p:txBody>
      </p:sp>
      <p:sp>
        <p:nvSpPr>
          <p:cNvPr id="13" name="TextBox 12"/>
          <p:cNvSpPr txBox="1"/>
          <p:nvPr/>
        </p:nvSpPr>
        <p:spPr>
          <a:xfrm>
            <a:off x="7818120" y="3200400"/>
            <a:ext cx="3749039" cy="411480"/>
          </a:xfrm>
          <a:prstGeom prst="rect">
            <a:avLst/>
          </a:prstGeom>
          <a:noFill/>
        </p:spPr>
        <p:txBody>
          <a:bodyPr wrap="square" anchor="t">
            <a:spAutoFit/>
          </a:bodyPr>
          <a:lstStyle/>
          <a:p>
            <a:pPr algn="l">
              <a:lnSpc>
                <a:spcPct val="100000"/>
              </a:lnSpc>
            </a:pPr>
            <a:r>
              <a:rPr sz="1500" b="1">
                <a:solidFill>
                  <a:srgbClr val="C0392B"/>
                </a:solidFill>
                <a:latin typeface="Calibri"/>
              </a:rPr>
              <a:t>EER 0% · 100% flagged ≤5 s</a:t>
            </a:r>
          </a:p>
        </p:txBody>
      </p:sp>
      <p:sp>
        <p:nvSpPr>
          <p:cNvPr id="14" name="Rounded Rectangle 13"/>
          <p:cNvSpPr/>
          <p:nvPr/>
        </p:nvSpPr>
        <p:spPr>
          <a:xfrm>
            <a:off x="685800" y="3758184"/>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867912"/>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Genuine speech — 173 clips incl. codec + noisy wild domains</a:t>
            </a:r>
          </a:p>
        </p:txBody>
      </p:sp>
      <p:sp>
        <p:nvSpPr>
          <p:cNvPr id="16" name="TextBox 15"/>
          <p:cNvSpPr txBox="1"/>
          <p:nvPr/>
        </p:nvSpPr>
        <p:spPr>
          <a:xfrm>
            <a:off x="7818120" y="3858768"/>
            <a:ext cx="3749039" cy="411480"/>
          </a:xfrm>
          <a:prstGeom prst="rect">
            <a:avLst/>
          </a:prstGeom>
          <a:noFill/>
        </p:spPr>
        <p:txBody>
          <a:bodyPr wrap="square" anchor="t">
            <a:spAutoFit/>
          </a:bodyPr>
          <a:lstStyle/>
          <a:p>
            <a:pPr algn="l">
              <a:lnSpc>
                <a:spcPct val="100000"/>
              </a:lnSpc>
            </a:pPr>
            <a:r>
              <a:rPr sz="1500" b="1">
                <a:solidFill>
                  <a:srgbClr val="1B7A43"/>
                </a:solidFill>
                <a:latin typeface="Calibri"/>
              </a:rPr>
              <a:t>3.5% false-RED · demo: zero</a:t>
            </a:r>
          </a:p>
        </p:txBody>
      </p:sp>
      <p:sp>
        <p:nvSpPr>
          <p:cNvPr id="17" name="Rounded Rectangle 16"/>
          <p:cNvSpPr/>
          <p:nvPr/>
        </p:nvSpPr>
        <p:spPr>
          <a:xfrm>
            <a:off x="685800" y="4416552"/>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26280"/>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Precision @ 1% fraud rate — single chunk → 2-chunk hysteresis</a:t>
            </a:r>
          </a:p>
        </p:txBody>
      </p:sp>
      <p:sp>
        <p:nvSpPr>
          <p:cNvPr id="19" name="TextBox 18"/>
          <p:cNvSpPr txBox="1"/>
          <p:nvPr/>
        </p:nvSpPr>
        <p:spPr>
          <a:xfrm>
            <a:off x="7818120" y="4517136"/>
            <a:ext cx="3749039" cy="411480"/>
          </a:xfrm>
          <a:prstGeom prst="rect">
            <a:avLst/>
          </a:prstGeom>
          <a:noFill/>
        </p:spPr>
        <p:txBody>
          <a:bodyPr wrap="square" anchor="t">
            <a:spAutoFit/>
          </a:bodyPr>
          <a:lstStyle/>
          <a:p>
            <a:pPr algn="l">
              <a:lnSpc>
                <a:spcPct val="100000"/>
              </a:lnSpc>
            </a:pPr>
            <a:r>
              <a:rPr sz="1500" b="1">
                <a:solidFill>
                  <a:srgbClr val="1A1A1A"/>
                </a:solidFill>
                <a:latin typeface="Calibri"/>
              </a:rPr>
              <a:t>18% → 82%</a:t>
            </a:r>
          </a:p>
        </p:txBody>
      </p:sp>
      <p:sp>
        <p:nvSpPr>
          <p:cNvPr id="20" name="Rounded Rectangle 19"/>
          <p:cNvSpPr/>
          <p:nvPr/>
        </p:nvSpPr>
        <p:spPr>
          <a:xfrm>
            <a:off x="685800" y="5074920"/>
            <a:ext cx="6858000" cy="585216"/>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184648"/>
            <a:ext cx="6492240" cy="411480"/>
          </a:xfrm>
          <a:prstGeom prst="rect">
            <a:avLst/>
          </a:prstGeom>
          <a:noFill/>
        </p:spPr>
        <p:txBody>
          <a:bodyPr wrap="square" anchor="t">
            <a:spAutoFit/>
          </a:bodyPr>
          <a:lstStyle/>
          <a:p>
            <a:pPr algn="l">
              <a:lnSpc>
                <a:spcPct val="100000"/>
              </a:lnSpc>
            </a:pPr>
            <a:r>
              <a:rPr sz="1200" b="0">
                <a:solidFill>
                  <a:srgbClr val="1A1A1A"/>
                </a:solidFill>
                <a:latin typeface="Calibri"/>
              </a:rPr>
              <a:t>Latency per 500 ms chunk (60 W laptop GPU, cascade)</a:t>
            </a:r>
          </a:p>
        </p:txBody>
      </p:sp>
      <p:sp>
        <p:nvSpPr>
          <p:cNvPr id="22" name="TextBox 21"/>
          <p:cNvSpPr txBox="1"/>
          <p:nvPr/>
        </p:nvSpPr>
        <p:spPr>
          <a:xfrm>
            <a:off x="7818120" y="5175504"/>
            <a:ext cx="3749039" cy="411480"/>
          </a:xfrm>
          <a:prstGeom prst="rect">
            <a:avLst/>
          </a:prstGeom>
          <a:noFill/>
        </p:spPr>
        <p:txBody>
          <a:bodyPr wrap="square" anchor="t">
            <a:spAutoFit/>
          </a:bodyPr>
          <a:lstStyle/>
          <a:p>
            <a:pPr algn="l">
              <a:lnSpc>
                <a:spcPct val="100000"/>
              </a:lnSpc>
            </a:pPr>
            <a:r>
              <a:rPr sz="1500" b="1">
                <a:solidFill>
                  <a:srgbClr val="1A1A1A"/>
                </a:solidFill>
                <a:latin typeface="Calibri"/>
              </a:rPr>
              <a:t>p50 126 ms · p95 185 ms</a:t>
            </a:r>
          </a:p>
        </p:txBody>
      </p:sp>
      <p:sp>
        <p:nvSpPr>
          <p:cNvPr id="23" name="TextBox 22"/>
          <p:cNvSpPr txBox="1"/>
          <p:nvPr/>
        </p:nvSpPr>
        <p:spPr>
          <a:xfrm>
            <a:off x="685800" y="5806440"/>
            <a:ext cx="10820095" cy="731520"/>
          </a:xfrm>
          <a:prstGeom prst="rect">
            <a:avLst/>
          </a:prstGeom>
          <a:noFill/>
        </p:spPr>
        <p:txBody>
          <a:bodyPr wrap="square" anchor="t">
            <a:spAutoFit/>
          </a:bodyPr>
          <a:lstStyle/>
          <a:p>
            <a:pPr algn="l">
              <a:lnSpc>
                <a:spcPct val="110000"/>
              </a:lnSpc>
            </a:pPr>
            <a:r>
              <a:rPr sz="1200" b="0">
                <a:solidFill>
                  <a:srgbClr val="6B7280"/>
                </a:solidFill>
                <a:latin typeface="Calibri"/>
              </a:rPr>
              <a:t>Problem statement asks: flag within the first 10 seconds — median RED is 2.0 s. Benchmarked on 496 clips (WaveFake, ASVspoof 2021 DF, In-the-Wild + generated clones). We report EER, not just AUC — and at a realistic 1% fraud rate the 2-chunk hysteresis rule is what lifts alert precision from 18% to 82%.</a:t>
            </a:r>
          </a:p>
        </p:txBody>
      </p:sp>
      <p:sp>
        <p:nvSpPr>
          <p:cNvPr id="24" name="TextBox 23"/>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25" name="TextBox 24"/>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TECHNICAL MOAT</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The models are public. The calibration is ours.</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820095" cy="4023360"/>
          </a:xfrm>
          <a:prstGeom prst="rect">
            <a:avLst/>
          </a:prstGeom>
          <a:noFill/>
        </p:spPr>
        <p:txBody>
          <a:bodyPr wrap="square">
            <a:spAutoFit/>
          </a:bodyPr>
          <a:lstStyle/>
          <a:p>
            <a:pPr>
              <a:lnSpc>
                <a:spcPct val="105000"/>
              </a:lnSpc>
              <a:spcAft>
                <a:spcPts val="1400"/>
              </a:spcAft>
            </a:pPr>
            <a:r>
              <a:rPr sz="1500" b="1">
                <a:solidFill>
                  <a:srgbClr val="1A1A1A"/>
                </a:solidFill>
                <a:latin typeface="Calibri"/>
              </a:rPr>
              <a:t>—  Evidence-calibrated fusion.</a:t>
            </a:r>
            <a:r>
              <a:rPr sz="1500">
                <a:solidFill>
                  <a:srgbClr val="6B7280"/>
                </a:solidFill>
                <a:latin typeface="Calibri"/>
              </a:rPr>
              <a:t>  We benchmarked 8 detectors on 496 clips and encoded each model's measured failure modes into per-model peak-evidence rights — even retiring our first screener (AASIST, AUC 0.33 on real audio). Plug-and-play ensembles don't survive contact with real audio; ours was rebuilt to.</a:t>
            </a:r>
          </a:p>
          <a:p>
            <a:pPr>
              <a:lnSpc>
                <a:spcPct val="105000"/>
              </a:lnSpc>
              <a:spcAft>
                <a:spcPts val="1400"/>
              </a:spcAft>
            </a:pPr>
            <a:r>
              <a:rPr sz="1500" b="1">
                <a:solidFill>
                  <a:srgbClr val="1A1A1A"/>
                </a:solidFill>
                <a:latin typeface="Calibri"/>
              </a:rPr>
              <a:t>—  Honest metrics.</a:t>
            </a:r>
            <a:r>
              <a:rPr sz="1500">
                <a:solidFill>
                  <a:srgbClr val="6B7280"/>
                </a:solidFill>
                <a:latin typeface="Calibri"/>
              </a:rPr>
              <a:t>  We report EER (3.1%) and precision at a realistic 1% fraud rate, not just a flattering AUC. That analysis is why the pipeline uses 2-chunk hysteresis — it lifts alert precision from 18% to 82%.</a:t>
            </a:r>
          </a:p>
          <a:p>
            <a:pPr>
              <a:lnSpc>
                <a:spcPct val="105000"/>
              </a:lnSpc>
              <a:spcAft>
                <a:spcPts val="1400"/>
              </a:spcAft>
            </a:pPr>
            <a:r>
              <a:rPr sz="1500" b="1">
                <a:solidFill>
                  <a:srgbClr val="1A1A1A"/>
                </a:solidFill>
                <a:latin typeface="Calibri"/>
              </a:rPr>
              <a:t>—  Robustness engineered, not assumed.</a:t>
            </a:r>
            <a:r>
              <a:rPr sz="1500">
                <a:solidFill>
                  <a:srgbClr val="6B7280"/>
                </a:solidFill>
                <a:latin typeface="Calibri"/>
              </a:rPr>
              <a:t>  Neural VAD holds in noise where energy gating calls pure noise 'speech'; scores scale with voiced content; GREY overrides everything. Measured, with the noise limit (AUC 0.81 at 15 dB) documented rather than hidden.</a:t>
            </a:r>
          </a:p>
          <a:p>
            <a:pPr>
              <a:lnSpc>
                <a:spcPct val="105000"/>
              </a:lnSpc>
              <a:spcAft>
                <a:spcPts val="1400"/>
              </a:spcAft>
            </a:pPr>
            <a:r>
              <a:rPr sz="1500" b="1">
                <a:solidFill>
                  <a:srgbClr val="1A1A1A"/>
                </a:solidFill>
                <a:latin typeface="Calibri"/>
              </a:rPr>
              <a:t>—  A validation harness as the product.</a:t>
            </a:r>
            <a:r>
              <a:rPr sz="1500">
                <a:solidFill>
                  <a:srgbClr val="6B7280"/>
                </a:solidFill>
                <a:latin typeface="Calibri"/>
              </a:rPr>
              <a:t>  Fixture pipeline (English + Hindi, GAN/TTS/VC/wild), 94 automated tests, latency + timing benchmarks — new detectors are trusted only as far as they prove. Replay and watermark modules ship but stay out of the verdict until real call data validates them. That is the moat.</a:t>
            </a:r>
          </a:p>
        </p:txBody>
      </p:sp>
      <p:sp>
        <p:nvSpPr>
          <p:cNvPr id="6" name="TextBox 5"/>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7" name="TextBox 6"/>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DEPLOYABILITY</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Drops into existing bank telephony</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2103120"/>
            <a:ext cx="21031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Call center PBX / SBC</a:t>
            </a:r>
          </a:p>
          <a:p>
            <a:pPr algn="ctr"/>
            <a:r>
              <a:rPr sz="1000">
                <a:solidFill>
                  <a:srgbClr val="6B7280"/>
                </a:solidFill>
                <a:latin typeface="Calibri"/>
              </a:rPr>
              <a:t>existing telephony</a:t>
            </a:r>
          </a:p>
        </p:txBody>
      </p:sp>
      <p:sp>
        <p:nvSpPr>
          <p:cNvPr id="6" name="Right Arrow 5"/>
          <p:cNvSpPr/>
          <p:nvPr/>
        </p:nvSpPr>
        <p:spPr>
          <a:xfrm>
            <a:off x="2843784" y="2633472"/>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3474720"/>
            <a:ext cx="1280160" cy="274320"/>
          </a:xfrm>
          <a:prstGeom prst="rect">
            <a:avLst/>
          </a:prstGeom>
          <a:noFill/>
        </p:spPr>
        <p:txBody>
          <a:bodyPr wrap="square" anchor="t">
            <a:spAutoFit/>
          </a:bodyPr>
          <a:lstStyle/>
          <a:p>
            <a:pPr algn="ctr">
              <a:lnSpc>
                <a:spcPct val="100000"/>
              </a:lnSpc>
            </a:pPr>
            <a:r>
              <a:rPr sz="1000" b="0">
                <a:solidFill>
                  <a:srgbClr val="6B7280"/>
                </a:solidFill>
                <a:latin typeface="Calibri"/>
              </a:rPr>
              <a:t>RTP fork</a:t>
            </a:r>
          </a:p>
        </p:txBody>
      </p:sp>
      <p:sp>
        <p:nvSpPr>
          <p:cNvPr id="8" name="Rounded Rectangle 7"/>
          <p:cNvSpPr/>
          <p:nvPr/>
        </p:nvSpPr>
        <p:spPr>
          <a:xfrm>
            <a:off x="3383280" y="2103120"/>
            <a:ext cx="2834640" cy="128016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400" b="1">
                <a:solidFill>
                  <a:srgbClr val="FFFFFF"/>
                </a:solidFill>
                <a:latin typeface="Calibri"/>
              </a:rPr>
              <a:t>VoiceShield server</a:t>
            </a:r>
          </a:p>
          <a:p>
            <a:pPr algn="ctr"/>
            <a:r>
              <a:rPr sz="1000">
                <a:solidFill>
                  <a:srgbClr val="BFBFBF"/>
                </a:solidFill>
                <a:latin typeface="Calibri"/>
              </a:rPr>
              <a:t>on-prem · 1 commodity GPU · CPU fallback</a:t>
            </a:r>
          </a:p>
        </p:txBody>
      </p:sp>
      <p:sp>
        <p:nvSpPr>
          <p:cNvPr id="9" name="Right Arrow 8"/>
          <p:cNvSpPr/>
          <p:nvPr/>
        </p:nvSpPr>
        <p:spPr>
          <a:xfrm>
            <a:off x="6281928" y="2633472"/>
            <a:ext cx="457200" cy="146304"/>
          </a:xfrm>
          <a:prstGeom prst="rightArrow">
            <a:avLst>
              <a:gd name="adj1" fmla="val 55000"/>
              <a:gd name="adj2" fmla="val 55000"/>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2103120"/>
            <a:ext cx="23317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Agent desktop</a:t>
            </a:r>
          </a:p>
          <a:p>
            <a:pPr algn="ctr"/>
            <a:r>
              <a:rPr sz="1000">
                <a:solidFill>
                  <a:srgbClr val="6B7280"/>
                </a:solidFill>
                <a:latin typeface="Calibri"/>
              </a:rPr>
              <a:t>advisory badge · WebSocket, 2×/sec</a:t>
            </a:r>
          </a:p>
        </p:txBody>
      </p:sp>
      <p:sp>
        <p:nvSpPr>
          <p:cNvPr id="11" name="Rounded Rectangle 10"/>
          <p:cNvSpPr/>
          <p:nvPr/>
        </p:nvSpPr>
        <p:spPr>
          <a:xfrm>
            <a:off x="9418320" y="2103120"/>
            <a:ext cx="2331720" cy="128016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rgbClr val="1A1A1A"/>
                </a:solidFill>
                <a:latin typeface="Calibri"/>
              </a:rPr>
              <a:t>Fraud team vault</a:t>
            </a:r>
          </a:p>
          <a:p>
            <a:pPr algn="ctr"/>
            <a:r>
              <a:rPr sz="1000">
                <a:solidFill>
                  <a:srgbClr val="6B7280"/>
                </a:solidFill>
                <a:latin typeface="Calibri"/>
              </a:rPr>
              <a:t>evidence packages on demand</a:t>
            </a:r>
          </a:p>
        </p:txBody>
      </p:sp>
      <p:sp>
        <p:nvSpPr>
          <p:cNvPr id="12" name="Right Arrow 11"/>
          <p:cNvSpPr/>
          <p:nvPr/>
        </p:nvSpPr>
        <p:spPr>
          <a:xfrm>
            <a:off x="9171432" y="2633472"/>
            <a:ext cx="219456" cy="146304"/>
          </a:xfrm>
          <a:prstGeom prst="rightArrow">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977639"/>
            <a:ext cx="10820095" cy="2011680"/>
          </a:xfrm>
          <a:prstGeom prst="rect">
            <a:avLst/>
          </a:prstGeom>
          <a:noFill/>
        </p:spPr>
        <p:txBody>
          <a:bodyPr wrap="square">
            <a:spAutoFit/>
          </a:bodyPr>
          <a:lstStyle/>
          <a:p>
            <a:pPr>
              <a:lnSpc>
                <a:spcPct val="105000"/>
              </a:lnSpc>
              <a:spcAft>
                <a:spcPts val="1000"/>
              </a:spcAft>
            </a:pPr>
            <a:r>
              <a:rPr sz="1500" b="1">
                <a:solidFill>
                  <a:srgbClr val="1A1A1A"/>
                </a:solidFill>
                <a:latin typeface="Calibri"/>
              </a:rPr>
              <a:t>—  Integration surface is two URLs.</a:t>
            </a:r>
            <a:r>
              <a:rPr sz="1500">
                <a:solidFill>
                  <a:srgbClr val="6B7280"/>
                </a:solidFill>
                <a:latin typeface="Calibri"/>
              </a:rPr>
              <a:t>  Versioned REST + WebSocket (/v1 frozen, /v2 ensemble) — CRM and agent-assist tools consume JSON; no telephony rework.</a:t>
            </a:r>
          </a:p>
          <a:p>
            <a:pPr>
              <a:lnSpc>
                <a:spcPct val="105000"/>
              </a:lnSpc>
              <a:spcAft>
                <a:spcPts val="1000"/>
              </a:spcAft>
            </a:pPr>
            <a:r>
              <a:rPr sz="1500" b="1">
                <a:solidFill>
                  <a:srgbClr val="1A1A1A"/>
                </a:solidFill>
                <a:latin typeface="Calibri"/>
              </a:rPr>
              <a:t>—  Compliance posture.</a:t>
            </a:r>
            <a:r>
              <a:rPr sz="1500">
                <a:solidFill>
                  <a:srgbClr val="6B7280"/>
                </a:solidFill>
                <a:latin typeface="Calibri"/>
              </a:rPr>
              <a:t>  No cloud dependency, no stored voice data, inference entirely on-premise; evidence export is explicit, hashed, and auditable.</a:t>
            </a:r>
          </a:p>
          <a:p>
            <a:pPr>
              <a:lnSpc>
                <a:spcPct val="105000"/>
              </a:lnSpc>
              <a:spcAft>
                <a:spcPts val="1000"/>
              </a:spcAft>
            </a:pPr>
            <a:r>
              <a:rPr sz="1500" b="1">
                <a:solidFill>
                  <a:srgbClr val="1A1A1A"/>
                </a:solidFill>
                <a:latin typeface="Calibri"/>
              </a:rPr>
              <a:t>—  Sizing.</a:t>
            </a:r>
            <a:r>
              <a:rPr sz="1500">
                <a:solidFill>
                  <a:srgbClr val="6B7280"/>
                </a:solidFill>
                <a:latin typeface="Calibri"/>
              </a:rPr>
              <a:t>  166 ms per 500 ms chunk on a laptop GPU today; one datacenter GPU serves multiple concurrent calls, and the cascade cuts average load further.</a:t>
            </a:r>
          </a:p>
        </p:txBody>
      </p:sp>
      <p:sp>
        <p:nvSpPr>
          <p:cNvPr id="14" name="TextBox 13"/>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5" name="TextBox 14"/>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LIVE DEMO</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What you will see (5 minutes)</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2011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1</a:t>
            </a:r>
          </a:p>
        </p:txBody>
      </p:sp>
      <p:sp>
        <p:nvSpPr>
          <p:cNvPr id="6" name="TextBox 5"/>
          <p:cNvSpPr txBox="1"/>
          <p:nvPr/>
        </p:nvSpPr>
        <p:spPr>
          <a:xfrm>
            <a:off x="1371600" y="1993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Genuine voice — live microphone</a:t>
            </a:r>
          </a:p>
        </p:txBody>
      </p:sp>
      <p:sp>
        <p:nvSpPr>
          <p:cNvPr id="7" name="TextBox 6"/>
          <p:cNvSpPr txBox="1"/>
          <p:nvPr/>
        </p:nvSpPr>
        <p:spPr>
          <a:xfrm>
            <a:off x="1371600" y="2395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Speak into the browser; verdict stays GREEN, artifacts panel stays quiet.</a:t>
            </a:r>
          </a:p>
        </p:txBody>
      </p:sp>
      <p:sp>
        <p:nvSpPr>
          <p:cNvPr id="8" name="Oval 7"/>
          <p:cNvSpPr/>
          <p:nvPr/>
        </p:nvSpPr>
        <p:spPr>
          <a:xfrm>
            <a:off x="685800" y="3154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2</a:t>
            </a:r>
          </a:p>
        </p:txBody>
      </p:sp>
      <p:sp>
        <p:nvSpPr>
          <p:cNvPr id="9" name="TextBox 8"/>
          <p:cNvSpPr txBox="1"/>
          <p:nvPr/>
        </p:nvSpPr>
        <p:spPr>
          <a:xfrm>
            <a:off x="1371600" y="3136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Real ElevenLabs voice clone</a:t>
            </a:r>
          </a:p>
        </p:txBody>
      </p:sp>
      <p:sp>
        <p:nvSpPr>
          <p:cNvPr id="10" name="TextBox 9"/>
          <p:cNvSpPr txBox="1"/>
          <p:nvPr/>
        </p:nvSpPr>
        <p:spPr>
          <a:xfrm>
            <a:off x="1371600" y="3538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Upload the cloned clip: AMBER at 3 s, RED at 5 s — watch the per-model score bars disagree, and fusion decide.</a:t>
            </a:r>
          </a:p>
        </p:txBody>
      </p:sp>
      <p:sp>
        <p:nvSpPr>
          <p:cNvPr id="11" name="Oval 10"/>
          <p:cNvSpPr/>
          <p:nvPr/>
        </p:nvSpPr>
        <p:spPr>
          <a:xfrm>
            <a:off x="685800" y="4297680"/>
            <a:ext cx="457200" cy="457200"/>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rgbClr val="FFFFFF"/>
                </a:solidFill>
                <a:latin typeface="Calibri"/>
              </a:rPr>
              <a:t>3</a:t>
            </a:r>
          </a:p>
        </p:txBody>
      </p:sp>
      <p:sp>
        <p:nvSpPr>
          <p:cNvPr id="12" name="TextBox 11"/>
          <p:cNvSpPr txBox="1"/>
          <p:nvPr/>
        </p:nvSpPr>
        <p:spPr>
          <a:xfrm>
            <a:off x="1371600" y="4279392"/>
            <a:ext cx="9601200" cy="365760"/>
          </a:xfrm>
          <a:prstGeom prst="rect">
            <a:avLst/>
          </a:prstGeom>
          <a:noFill/>
        </p:spPr>
        <p:txBody>
          <a:bodyPr wrap="square" anchor="t">
            <a:spAutoFit/>
          </a:bodyPr>
          <a:lstStyle/>
          <a:p>
            <a:pPr algn="l">
              <a:lnSpc>
                <a:spcPct val="100000"/>
              </a:lnSpc>
            </a:pPr>
            <a:r>
              <a:rPr sz="1800" b="1">
                <a:solidFill>
                  <a:srgbClr val="1A1A1A"/>
                </a:solidFill>
                <a:latin typeface="Calibri"/>
              </a:rPr>
              <a:t>Evidence export</a:t>
            </a:r>
          </a:p>
        </p:txBody>
      </p:sp>
      <p:sp>
        <p:nvSpPr>
          <p:cNvPr id="13" name="TextBox 12"/>
          <p:cNvSpPr txBox="1"/>
          <p:nvPr/>
        </p:nvSpPr>
        <p:spPr>
          <a:xfrm>
            <a:off x="1371600" y="4681728"/>
            <a:ext cx="9601200" cy="457200"/>
          </a:xfrm>
          <a:prstGeom prst="rect">
            <a:avLst/>
          </a:prstGeom>
          <a:noFill/>
        </p:spPr>
        <p:txBody>
          <a:bodyPr wrap="square" anchor="t">
            <a:spAutoFit/>
          </a:bodyPr>
          <a:lstStyle/>
          <a:p>
            <a:pPr algn="l">
              <a:lnSpc>
                <a:spcPct val="100000"/>
              </a:lnSpc>
            </a:pPr>
            <a:r>
              <a:rPr sz="1400" b="0">
                <a:solidFill>
                  <a:srgbClr val="6B7280"/>
                </a:solidFill>
                <a:latin typeface="Calibri"/>
              </a:rPr>
              <a:t>One click produces the audit package: spectrogram, phase heatmap, SHA-256, score envelope.</a:t>
            </a:r>
          </a:p>
        </p:txBody>
      </p:sp>
      <p:sp>
        <p:nvSpPr>
          <p:cNvPr id="14" name="TextBox 13"/>
          <p:cNvSpPr txBox="1"/>
          <p:nvPr/>
        </p:nvSpPr>
        <p:spPr>
          <a:xfrm>
            <a:off x="685800" y="5669280"/>
            <a:ext cx="10820095" cy="640080"/>
          </a:xfrm>
          <a:prstGeom prst="rect">
            <a:avLst/>
          </a:prstGeom>
          <a:noFill/>
        </p:spPr>
        <p:txBody>
          <a:bodyPr wrap="square" anchor="t">
            <a:spAutoFit/>
          </a:bodyPr>
          <a:lstStyle/>
          <a:p>
            <a:pPr algn="l">
              <a:lnSpc>
                <a:spcPct val="100000"/>
              </a:lnSpc>
            </a:pPr>
            <a:r>
              <a:rPr sz="1400" b="0">
                <a:solidFill>
                  <a:srgbClr val="6B7280"/>
                </a:solidFill>
                <a:latin typeface="Calibri"/>
              </a:rPr>
              <a:t>Everything runs live on this laptop — the same stack that would sit in the bank's datacenter.</a:t>
            </a:r>
          </a:p>
        </p:txBody>
      </p:sp>
      <p:sp>
        <p:nvSpPr>
          <p:cNvPr id="15" name="TextBox 1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6" name="TextBox 1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TECHNOLOGY READINESS</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TRL 6 — demonstrated in a relevant environment</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4</a:t>
            </a:r>
          </a:p>
          <a:p>
            <a:pPr algn="ctr"/>
            <a:r>
              <a:rPr sz="1000">
                <a:solidFill>
                  <a:srgbClr val="BFBFBF"/>
                </a:solidFill>
                <a:latin typeface="Calibri"/>
              </a:rPr>
              <a:t>components validated in lab</a:t>
            </a:r>
          </a:p>
        </p:txBody>
      </p:sp>
      <p:sp>
        <p:nvSpPr>
          <p:cNvPr id="6" name="Rounded Rectangle 5"/>
          <p:cNvSpPr/>
          <p:nvPr/>
        </p:nvSpPr>
        <p:spPr>
          <a:xfrm>
            <a:off x="2862072"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5</a:t>
            </a:r>
          </a:p>
          <a:p>
            <a:pPr algn="ctr"/>
            <a:r>
              <a:rPr sz="1000">
                <a:solidFill>
                  <a:srgbClr val="BFBFBF"/>
                </a:solidFill>
                <a:latin typeface="Calibri"/>
              </a:rPr>
              <a:t>integrated pipeline validated</a:t>
            </a:r>
          </a:p>
        </p:txBody>
      </p:sp>
      <p:sp>
        <p:nvSpPr>
          <p:cNvPr id="7" name="Rounded Rectangle 6"/>
          <p:cNvSpPr/>
          <p:nvPr/>
        </p:nvSpPr>
        <p:spPr>
          <a:xfrm>
            <a:off x="5038344" y="1965960"/>
            <a:ext cx="2011680" cy="1143000"/>
          </a:xfrm>
          <a:prstGeom prst="roundRect">
            <a:avLst>
              <a:gd name="adj" fmla="val 12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FFFFFF"/>
                </a:solidFill>
                <a:latin typeface="Calibri"/>
              </a:rPr>
              <a:t>TRL 6</a:t>
            </a:r>
          </a:p>
          <a:p>
            <a:pPr algn="ctr"/>
            <a:r>
              <a:rPr sz="1000">
                <a:solidFill>
                  <a:srgbClr val="BFBFBF"/>
                </a:solidFill>
                <a:latin typeface="Calibri"/>
              </a:rPr>
              <a:t>end-to-end system, live audio,</a:t>
            </a:r>
            <a:br/>
            <a:r>
              <a:rPr sz="1000">
                <a:solidFill>
                  <a:srgbClr val="6B7280"/>
                </a:solidFill>
                <a:latin typeface="Calibri"/>
              </a:rPr>
              <a:t>real pretrained models</a:t>
            </a:r>
          </a:p>
        </p:txBody>
      </p:sp>
      <p:sp>
        <p:nvSpPr>
          <p:cNvPr id="8" name="Rounded Rectangle 7"/>
          <p:cNvSpPr/>
          <p:nvPr/>
        </p:nvSpPr>
        <p:spPr>
          <a:xfrm>
            <a:off x="7214616" y="1965960"/>
            <a:ext cx="2011680" cy="11430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6B7280"/>
                </a:solidFill>
                <a:latin typeface="Calibri"/>
              </a:rPr>
              <a:t>TRL 7</a:t>
            </a:r>
          </a:p>
          <a:p>
            <a:pPr algn="ctr"/>
            <a:r>
              <a:rPr sz="1000">
                <a:solidFill>
                  <a:srgbClr val="6B7280"/>
                </a:solidFill>
                <a:latin typeface="Calibri"/>
              </a:rPr>
              <a:t>pilot on live call traffic</a:t>
            </a:r>
          </a:p>
        </p:txBody>
      </p:sp>
      <p:sp>
        <p:nvSpPr>
          <p:cNvPr id="9" name="Rounded Rectangle 8"/>
          <p:cNvSpPr/>
          <p:nvPr/>
        </p:nvSpPr>
        <p:spPr>
          <a:xfrm>
            <a:off x="9390888" y="1965960"/>
            <a:ext cx="2011680" cy="1143000"/>
          </a:xfrm>
          <a:prstGeom prst="roundRect">
            <a:avLst>
              <a:gd name="adj" fmla="val 12000"/>
            </a:avLst>
          </a:prstGeom>
          <a:solidFill>
            <a:srgbClr val="F2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rgbClr val="6B7280"/>
                </a:solidFill>
                <a:latin typeface="Calibri"/>
              </a:rPr>
              <a:t>TRL 8</a:t>
            </a:r>
          </a:p>
          <a:p>
            <a:pPr algn="ctr"/>
            <a:r>
              <a:rPr sz="1000">
                <a:solidFill>
                  <a:srgbClr val="6B7280"/>
                </a:solidFill>
                <a:latin typeface="Calibri"/>
              </a:rPr>
              <a:t>hardened telephony integration</a:t>
            </a:r>
          </a:p>
        </p:txBody>
      </p:sp>
      <p:sp>
        <p:nvSpPr>
          <p:cNvPr id="10" name="TextBox 9"/>
          <p:cNvSpPr txBox="1"/>
          <p:nvPr/>
        </p:nvSpPr>
        <p:spPr>
          <a:xfrm>
            <a:off x="685800" y="3566160"/>
            <a:ext cx="10820095" cy="2377440"/>
          </a:xfrm>
          <a:prstGeom prst="rect">
            <a:avLst/>
          </a:prstGeom>
          <a:noFill/>
        </p:spPr>
        <p:txBody>
          <a:bodyPr wrap="square">
            <a:spAutoFit/>
          </a:bodyPr>
          <a:lstStyle/>
          <a:p>
            <a:pPr>
              <a:lnSpc>
                <a:spcPct val="105000"/>
              </a:lnSpc>
              <a:spcAft>
                <a:spcPts val="1000"/>
              </a:spcAft>
            </a:pPr>
            <a:r>
              <a:rPr sz="1500" b="1">
                <a:solidFill>
                  <a:srgbClr val="1A1A1A"/>
                </a:solidFill>
                <a:latin typeface="Calibri"/>
              </a:rPr>
              <a:t>—  Working system, not slides.</a:t>
            </a:r>
            <a:r>
              <a:rPr sz="1500">
                <a:solidFill>
                  <a:srgbClr val="6B7280"/>
                </a:solidFill>
                <a:latin typeface="Calibri"/>
              </a:rPr>
              <a:t>  Live browser-mic capture → GPU ensemble → advisory dashboard, running end-to-end today at p95 166 ms per chunk.</a:t>
            </a:r>
          </a:p>
          <a:p>
            <a:pPr>
              <a:lnSpc>
                <a:spcPct val="105000"/>
              </a:lnSpc>
              <a:spcAft>
                <a:spcPts val="1000"/>
              </a:spcAft>
            </a:pPr>
            <a:r>
              <a:rPr sz="1500" b="1">
                <a:solidFill>
                  <a:srgbClr val="1A1A1A"/>
                </a:solidFill>
                <a:latin typeface="Calibri"/>
              </a:rPr>
              <a:t>—  Engineering rigor.</a:t>
            </a:r>
            <a:r>
              <a:rPr sz="1500">
                <a:solidFill>
                  <a:srgbClr val="6B7280"/>
                </a:solidFill>
                <a:latin typeface="Calibri"/>
              </a:rPr>
              <a:t>  94 automated tests including acceptance gates (false-alert rate, detection-time, latency); CI-gated; structured audit logging with trace IDs.</a:t>
            </a:r>
          </a:p>
          <a:p>
            <a:pPr>
              <a:lnSpc>
                <a:spcPct val="105000"/>
              </a:lnSpc>
              <a:spcAft>
                <a:spcPts val="1000"/>
              </a:spcAft>
            </a:pPr>
            <a:r>
              <a:rPr sz="1500" b="1">
                <a:solidFill>
                  <a:srgbClr val="1A1A1A"/>
                </a:solidFill>
                <a:latin typeface="Calibri"/>
              </a:rPr>
              <a:t>—  Validated against real attacks.</a:t>
            </a:r>
            <a:r>
              <a:rPr sz="1500">
                <a:solidFill>
                  <a:srgbClr val="6B7280"/>
                </a:solidFill>
                <a:latin typeface="Calibri"/>
              </a:rPr>
              <a:t>  Detected a genuine ElevenLabs clone of a real voice — the exact attack in the problem statement.</a:t>
            </a:r>
          </a:p>
        </p:txBody>
      </p:sp>
      <p:sp>
        <p:nvSpPr>
          <p:cNvPr id="11" name="TextBox 10"/>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12" name="TextBox 11"/>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11480"/>
            <a:ext cx="10820095" cy="274320"/>
          </a:xfrm>
          <a:prstGeom prst="rect">
            <a:avLst/>
          </a:prstGeom>
          <a:noFill/>
        </p:spPr>
        <p:txBody>
          <a:bodyPr wrap="square" anchor="t">
            <a:spAutoFit/>
          </a:bodyPr>
          <a:lstStyle/>
          <a:p>
            <a:pPr algn="l">
              <a:lnSpc>
                <a:spcPct val="100000"/>
              </a:lnSpc>
            </a:pPr>
            <a:r>
              <a:rPr sz="1200" b="1">
                <a:solidFill>
                  <a:srgbClr val="6B7280"/>
                </a:solidFill>
                <a:latin typeface="Calibri"/>
              </a:rPr>
              <a:t>ROADMAP</a:t>
            </a:r>
          </a:p>
        </p:txBody>
      </p:sp>
      <p:sp>
        <p:nvSpPr>
          <p:cNvPr id="3" name="TextBox 2"/>
          <p:cNvSpPr txBox="1"/>
          <p:nvPr/>
        </p:nvSpPr>
        <p:spPr>
          <a:xfrm>
            <a:off x="685800" y="685800"/>
            <a:ext cx="10820095" cy="731520"/>
          </a:xfrm>
          <a:prstGeom prst="rect">
            <a:avLst/>
          </a:prstGeom>
          <a:noFill/>
        </p:spPr>
        <p:txBody>
          <a:bodyPr wrap="square" anchor="t">
            <a:spAutoFit/>
          </a:bodyPr>
          <a:lstStyle/>
          <a:p>
            <a:pPr algn="l">
              <a:lnSpc>
                <a:spcPct val="100000"/>
              </a:lnSpc>
            </a:pPr>
            <a:r>
              <a:rPr sz="3000" b="1">
                <a:solidFill>
                  <a:srgbClr val="1A1A1A"/>
                </a:solidFill>
                <a:latin typeface="Calibri Light"/>
              </a:rPr>
              <a:t>From prototype to production</a:t>
            </a:r>
          </a:p>
        </p:txBody>
      </p:sp>
      <p:sp>
        <p:nvSpPr>
          <p:cNvPr id="4" name="Rectangle 3"/>
          <p:cNvSpPr/>
          <p:nvPr/>
        </p:nvSpPr>
        <p:spPr>
          <a:xfrm>
            <a:off x="685800" y="1417320"/>
            <a:ext cx="502920" cy="330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651760"/>
            <a:ext cx="10820095" cy="25400"/>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2587752"/>
            <a:ext cx="155448" cy="15544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4832"/>
            <a:ext cx="2194560" cy="320040"/>
          </a:xfrm>
          <a:prstGeom prst="rect">
            <a:avLst/>
          </a:prstGeom>
          <a:noFill/>
        </p:spPr>
        <p:txBody>
          <a:bodyPr wrap="square" anchor="t">
            <a:spAutoFit/>
          </a:bodyPr>
          <a:lstStyle/>
          <a:p>
            <a:pPr algn="l">
              <a:lnSpc>
                <a:spcPct val="100000"/>
              </a:lnSpc>
            </a:pPr>
            <a:r>
              <a:rPr sz="1200" b="1">
                <a:solidFill>
                  <a:srgbClr val="C0392B"/>
                </a:solidFill>
                <a:latin typeface="Calibri"/>
              </a:rPr>
              <a:t>TODAY</a:t>
            </a:r>
          </a:p>
        </p:txBody>
      </p:sp>
      <p:sp>
        <p:nvSpPr>
          <p:cNvPr id="8" name="TextBox 7"/>
          <p:cNvSpPr txBox="1"/>
          <p:nvPr/>
        </p:nvSpPr>
        <p:spPr>
          <a:xfrm>
            <a:off x="685800"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Hackathon prototype</a:t>
            </a:r>
          </a:p>
        </p:txBody>
      </p:sp>
      <p:sp>
        <p:nvSpPr>
          <p:cNvPr id="9" name="TextBox 8"/>
          <p:cNvSpPr txBox="1"/>
          <p:nvPr/>
        </p:nvSpPr>
        <p:spPr>
          <a:xfrm>
            <a:off x="685800"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cascade ensemble · replay detection ·</a:t>
            </a:r>
          </a:p>
          <a:p>
            <a:pPr algn="l">
              <a:lnSpc>
                <a:spcPct val="110000"/>
              </a:lnSpc>
            </a:pPr>
            <a:r>
              <a:rPr sz="1200" b="0">
                <a:solidFill>
                  <a:srgbClr val="6B7280"/>
                </a:solidFill>
                <a:latin typeface="Calibri"/>
              </a:rPr>
              <a:t>evidence export · live dashboard</a:t>
            </a:r>
          </a:p>
        </p:txBody>
      </p:sp>
      <p:sp>
        <p:nvSpPr>
          <p:cNvPr id="10" name="Oval 9"/>
          <p:cNvSpPr/>
          <p:nvPr/>
        </p:nvSpPr>
        <p:spPr>
          <a:xfrm>
            <a:off x="3390823"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0823"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+3 MONTHS</a:t>
            </a:r>
          </a:p>
        </p:txBody>
      </p:sp>
      <p:sp>
        <p:nvSpPr>
          <p:cNvPr id="12" name="TextBox 11"/>
          <p:cNvSpPr txBox="1"/>
          <p:nvPr/>
        </p:nvSpPr>
        <p:spPr>
          <a:xfrm>
            <a:off x="3390823"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Bank pilot</a:t>
            </a:r>
          </a:p>
        </p:txBody>
      </p:sp>
      <p:sp>
        <p:nvSpPr>
          <p:cNvPr id="13" name="TextBox 12"/>
          <p:cNvSpPr txBox="1"/>
          <p:nvPr/>
        </p:nvSpPr>
        <p:spPr>
          <a:xfrm>
            <a:off x="3390823"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SIP/RTP tap on live traffic · replay-channel</a:t>
            </a:r>
          </a:p>
          <a:p>
            <a:pPr algn="l">
              <a:lnSpc>
                <a:spcPct val="110000"/>
              </a:lnSpc>
            </a:pPr>
            <a:r>
              <a:rPr sz="1200" b="0">
                <a:solidFill>
                  <a:srgbClr val="6B7280"/>
                </a:solidFill>
                <a:latin typeface="Calibri"/>
              </a:rPr>
              <a:t>detection calibrated on real call audio</a:t>
            </a:r>
          </a:p>
        </p:txBody>
      </p:sp>
      <p:sp>
        <p:nvSpPr>
          <p:cNvPr id="14" name="Oval 13"/>
          <p:cNvSpPr/>
          <p:nvPr/>
        </p:nvSpPr>
        <p:spPr>
          <a:xfrm>
            <a:off x="6095846"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6"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+6 MONTHS</a:t>
            </a:r>
          </a:p>
        </p:txBody>
      </p:sp>
      <p:sp>
        <p:nvSpPr>
          <p:cNvPr id="16" name="TextBox 15"/>
          <p:cNvSpPr txBox="1"/>
          <p:nvPr/>
        </p:nvSpPr>
        <p:spPr>
          <a:xfrm>
            <a:off x="6095846"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India-ready</a:t>
            </a:r>
          </a:p>
        </p:txBody>
      </p:sp>
      <p:sp>
        <p:nvSpPr>
          <p:cNvPr id="17" name="TextBox 16"/>
          <p:cNvSpPr txBox="1"/>
          <p:nvPr/>
        </p:nvSpPr>
        <p:spPr>
          <a:xfrm>
            <a:off x="6095846"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Hindi + regional-language robustness ·</a:t>
            </a:r>
          </a:p>
          <a:p>
            <a:pPr algn="l">
              <a:lnSpc>
                <a:spcPct val="110000"/>
              </a:lnSpc>
            </a:pPr>
            <a:r>
              <a:rPr sz="1200" b="0">
                <a:solidFill>
                  <a:srgbClr val="6B7280"/>
                </a:solidFill>
                <a:latin typeface="Calibri"/>
              </a:rPr>
              <a:t>multilingual anti-spoof model · agent rollout</a:t>
            </a:r>
          </a:p>
        </p:txBody>
      </p:sp>
      <p:sp>
        <p:nvSpPr>
          <p:cNvPr id="18" name="Oval 17"/>
          <p:cNvSpPr/>
          <p:nvPr/>
        </p:nvSpPr>
        <p:spPr>
          <a:xfrm>
            <a:off x="8800869" y="2587752"/>
            <a:ext cx="155448" cy="155448"/>
          </a:xfrm>
          <a:prstGeom prst="ellipse">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00869" y="2084832"/>
            <a:ext cx="2194560" cy="320040"/>
          </a:xfrm>
          <a:prstGeom prst="rect">
            <a:avLst/>
          </a:prstGeom>
          <a:noFill/>
        </p:spPr>
        <p:txBody>
          <a:bodyPr wrap="square" anchor="t">
            <a:spAutoFit/>
          </a:bodyPr>
          <a:lstStyle/>
          <a:p>
            <a:pPr algn="l">
              <a:lnSpc>
                <a:spcPct val="100000"/>
              </a:lnSpc>
            </a:pPr>
            <a:r>
              <a:rPr sz="1200" b="1">
                <a:solidFill>
                  <a:srgbClr val="6B7280"/>
                </a:solidFill>
                <a:latin typeface="Calibri"/>
              </a:rPr>
              <a:t>+12 MONTHS</a:t>
            </a:r>
          </a:p>
        </p:txBody>
      </p:sp>
      <p:sp>
        <p:nvSpPr>
          <p:cNvPr id="20" name="TextBox 19"/>
          <p:cNvSpPr txBox="1"/>
          <p:nvPr/>
        </p:nvSpPr>
        <p:spPr>
          <a:xfrm>
            <a:off x="8800869" y="2944368"/>
            <a:ext cx="2651760" cy="365760"/>
          </a:xfrm>
          <a:prstGeom prst="rect">
            <a:avLst/>
          </a:prstGeom>
          <a:noFill/>
        </p:spPr>
        <p:txBody>
          <a:bodyPr wrap="square" anchor="t">
            <a:spAutoFit/>
          </a:bodyPr>
          <a:lstStyle/>
          <a:p>
            <a:pPr algn="l">
              <a:lnSpc>
                <a:spcPct val="100000"/>
              </a:lnSpc>
            </a:pPr>
            <a:r>
              <a:rPr sz="1600" b="1">
                <a:solidFill>
                  <a:srgbClr val="1A1A1A"/>
                </a:solidFill>
                <a:latin typeface="Calibri"/>
              </a:rPr>
              <a:t>Network effect</a:t>
            </a:r>
          </a:p>
        </p:txBody>
      </p:sp>
      <p:sp>
        <p:nvSpPr>
          <p:cNvPr id="21" name="TextBox 20"/>
          <p:cNvSpPr txBox="1"/>
          <p:nvPr/>
        </p:nvSpPr>
        <p:spPr>
          <a:xfrm>
            <a:off x="8800869" y="3364992"/>
            <a:ext cx="2651760" cy="1097280"/>
          </a:xfrm>
          <a:prstGeom prst="rect">
            <a:avLst/>
          </a:prstGeom>
          <a:noFill/>
        </p:spPr>
        <p:txBody>
          <a:bodyPr wrap="square" anchor="t">
            <a:spAutoFit/>
          </a:bodyPr>
          <a:lstStyle/>
          <a:p>
            <a:pPr algn="l">
              <a:lnSpc>
                <a:spcPct val="110000"/>
              </a:lnSpc>
            </a:pPr>
            <a:r>
              <a:rPr sz="1200" b="0">
                <a:solidFill>
                  <a:srgbClr val="6B7280"/>
                </a:solidFill>
                <a:latin typeface="Calibri"/>
              </a:rPr>
              <a:t>cross-branch fraud analytics · voice-clone</a:t>
            </a:r>
          </a:p>
          <a:p>
            <a:pPr algn="l">
              <a:lnSpc>
                <a:spcPct val="110000"/>
              </a:lnSpc>
            </a:pPr>
            <a:r>
              <a:rPr sz="1200" b="0">
                <a:solidFill>
                  <a:srgbClr val="6B7280"/>
                </a:solidFill>
                <a:latin typeface="Calibri"/>
              </a:rPr>
              <a:t>threat intel shared across PSBs</a:t>
            </a:r>
          </a:p>
        </p:txBody>
      </p:sp>
      <p:sp>
        <p:nvSpPr>
          <p:cNvPr id="22" name="TextBox 21"/>
          <p:cNvSpPr txBox="1"/>
          <p:nvPr/>
        </p:nvSpPr>
        <p:spPr>
          <a:xfrm>
            <a:off x="685800" y="4937760"/>
            <a:ext cx="10820095" cy="1097280"/>
          </a:xfrm>
          <a:prstGeom prst="rect">
            <a:avLst/>
          </a:prstGeom>
          <a:noFill/>
        </p:spPr>
        <p:txBody>
          <a:bodyPr wrap="square" anchor="t">
            <a:spAutoFit/>
          </a:bodyPr>
          <a:lstStyle/>
          <a:p>
            <a:pPr algn="l">
              <a:lnSpc>
                <a:spcPct val="100000"/>
              </a:lnSpc>
            </a:pPr>
            <a:r>
              <a:rPr sz="1400" b="0">
                <a:solidFill>
                  <a:srgbClr val="6B7280"/>
                </a:solidFill>
                <a:latin typeface="Calibri"/>
              </a:rPr>
              <a:t>Deliberate scope: detection accuracy and honest calibration first, telephony plumbing second. The API seams (versioned /v1 → /v2) mean each phase ships without breaking the last.</a:t>
            </a:r>
          </a:p>
        </p:txBody>
      </p:sp>
      <p:sp>
        <p:nvSpPr>
          <p:cNvPr id="23" name="TextBox 22"/>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24" name="TextBox 23"/>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377440"/>
            <a:ext cx="10820095" cy="1463040"/>
          </a:xfrm>
          <a:prstGeom prst="rect">
            <a:avLst/>
          </a:prstGeom>
          <a:noFill/>
        </p:spPr>
        <p:txBody>
          <a:bodyPr wrap="square" anchor="t">
            <a:spAutoFit/>
          </a:bodyPr>
          <a:lstStyle/>
          <a:p>
            <a:pPr algn="l">
              <a:lnSpc>
                <a:spcPct val="105000"/>
              </a:lnSpc>
            </a:pPr>
            <a:r>
              <a:rPr sz="4000" b="1">
                <a:solidFill>
                  <a:srgbClr val="1A1A1A"/>
                </a:solidFill>
                <a:latin typeface="Calibri Light"/>
              </a:rPr>
              <a:t>The audio is the only evidence</a:t>
            </a:r>
          </a:p>
          <a:p>
            <a:pPr algn="l">
              <a:lnSpc>
                <a:spcPct val="105000"/>
              </a:lnSpc>
            </a:pPr>
            <a:r>
              <a:rPr sz="4000" b="1">
                <a:solidFill>
                  <a:srgbClr val="1A1A1A"/>
                </a:solidFill>
                <a:latin typeface="Calibri Light"/>
              </a:rPr>
              <a:t>that cannot lie. We read it.</a:t>
            </a:r>
          </a:p>
        </p:txBody>
      </p:sp>
      <p:sp>
        <p:nvSpPr>
          <p:cNvPr id="3" name="Rectangle 2"/>
          <p:cNvSpPr/>
          <p:nvPr/>
        </p:nvSpPr>
        <p:spPr>
          <a:xfrm>
            <a:off x="704088" y="3977639"/>
            <a:ext cx="822960" cy="381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206240"/>
            <a:ext cx="10058400" cy="457200"/>
          </a:xfrm>
          <a:prstGeom prst="rect">
            <a:avLst/>
          </a:prstGeom>
          <a:noFill/>
        </p:spPr>
        <p:txBody>
          <a:bodyPr wrap="square" anchor="t">
            <a:spAutoFit/>
          </a:bodyPr>
          <a:lstStyle/>
          <a:p>
            <a:pPr algn="l">
              <a:lnSpc>
                <a:spcPct val="100000"/>
              </a:lnSpc>
            </a:pPr>
            <a:r>
              <a:rPr sz="1600" b="0">
                <a:solidFill>
                  <a:srgbClr val="6B7280"/>
                </a:solidFill>
                <a:latin typeface="Calibri"/>
              </a:rPr>
              <a:t>VoiceShield — Team Jigyasa  ·  Questions welcome</a:t>
            </a:r>
          </a:p>
        </p:txBody>
      </p:sp>
      <p:sp>
        <p:nvSpPr>
          <p:cNvPr id="5" name="TextBox 4"/>
          <p:cNvSpPr txBox="1"/>
          <p:nvPr/>
        </p:nvSpPr>
        <p:spPr>
          <a:xfrm>
            <a:off x="685800" y="6446520"/>
            <a:ext cx="5486400" cy="274320"/>
          </a:xfrm>
          <a:prstGeom prst="rect">
            <a:avLst/>
          </a:prstGeom>
          <a:noFill/>
        </p:spPr>
        <p:txBody>
          <a:bodyPr wrap="square" anchor="t">
            <a:spAutoFit/>
          </a:bodyPr>
          <a:lstStyle/>
          <a:p>
            <a:pPr algn="l">
              <a:lnSpc>
                <a:spcPct val="100000"/>
              </a:lnSpc>
            </a:pPr>
            <a:r>
              <a:rPr sz="900" b="0">
                <a:solidFill>
                  <a:srgbClr val="6B7280"/>
                </a:solidFill>
                <a:latin typeface="Calibri"/>
              </a:rPr>
              <a:t>VoiceShield · Team Jigyasa</a:t>
            </a:r>
          </a:p>
        </p:txBody>
      </p:sp>
      <p:sp>
        <p:nvSpPr>
          <p:cNvPr id="6" name="TextBox 5"/>
          <p:cNvSpPr txBox="1"/>
          <p:nvPr/>
        </p:nvSpPr>
        <p:spPr>
          <a:xfrm>
            <a:off x="11048695" y="6446520"/>
            <a:ext cx="457200" cy="274320"/>
          </a:xfrm>
          <a:prstGeom prst="rect">
            <a:avLst/>
          </a:prstGeom>
          <a:noFill/>
        </p:spPr>
        <p:txBody>
          <a:bodyPr wrap="square" anchor="t">
            <a:spAutoFit/>
          </a:bodyPr>
          <a:lstStyle/>
          <a:p>
            <a:pPr algn="r">
              <a:lnSpc>
                <a:spcPct val="100000"/>
              </a:lnSpc>
            </a:pPr>
            <a:r>
              <a:rPr sz="900" b="0">
                <a:solidFill>
                  <a:srgbClr val="6B7280"/>
                </a:solidFill>
                <a:latin typeface="Calibri"/>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