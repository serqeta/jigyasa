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4884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A1A1A"/>
                </a:solidFill>
                <a:latin typeface="Calibri Light"/>
              </a:rPr>
              <a:t>VoiceShield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704088" y="3063240"/>
            <a:ext cx="822960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91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6B7280"/>
                </a:solidFill>
                <a:latin typeface="Calibri"/>
              </a:rPr>
              <a:t>Real-time audio forensics that flags cloned voices on live calls — within 10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Team Jigyasa  ·  Amit Anand · Suraj Harlekar · Aditya Dubey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UCO PSB Hackathon · Problem Statement 2 · Audio Forensics for Voice Security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A voice is no longer proof of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383280" cy="2103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A1A1A"/>
                </a:solidFill>
                <a:latin typeface="Calibri Light"/>
              </a:rPr>
              <a:t>3 sec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of audio is enough to clone a voice with ~85% similarity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2103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A1A1A"/>
                </a:solidFill>
                <a:latin typeface="Calibri Light"/>
              </a:rPr>
              <a:t>+442%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surge in voice-phishing attacks in 2025, driven by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920240"/>
            <a:ext cx="3383280" cy="2103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194560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C0392B"/>
                </a:solidFill>
                <a:latin typeface="Calibri Light"/>
              </a:rPr>
              <a:t>$40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10896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projected annual US losses to AI-enabled fraud by 2027 (Deloitte)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72000"/>
            <a:ext cx="108200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Fraudsters clone a customer's voice to defeat voice-biometric checks and to socially engineer call-center agents into moving money.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Today's defenses — caller ID, phone-number metadata — are trivially spoofed. The audio itself is the only evidence that cannot lie.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Listening for synthesis, not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2286000" cy="137160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Live call audio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500 ms chunks · 16 kHz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44952" y="2898648"/>
            <a:ext cx="50292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2286000"/>
            <a:ext cx="3017520" cy="137160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VoiceShield pipeline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forensic features · model ensemble · risk fusion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702552" y="2898648"/>
            <a:ext cx="50292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69480" y="22860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1A1A1A"/>
                </a:solidFill>
                <a:latin typeface="Calibri"/>
              </a:rPr>
              <a:t>Agent advisory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verdict ≤ 10 s of audio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2313432"/>
            <a:ext cx="1783080" cy="283464"/>
          </a:xfrm>
          <a:prstGeom prst="roundRect">
            <a:avLst>
              <a:gd name="adj" fmla="val 12000"/>
            </a:avLst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GREEN · continue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21240" y="2660904"/>
            <a:ext cx="1783080" cy="283464"/>
          </a:xfrm>
          <a:prstGeom prst="roundRect">
            <a:avLst>
              <a:gd name="adj" fmla="val 12000"/>
            </a:avLst>
          </a:prstGeom>
          <a:solidFill>
            <a:srgbClr val="B4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AMBER · escalate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3008376"/>
            <a:ext cx="1783080" cy="283464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RED · terminate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1240" y="3355848"/>
            <a:ext cx="1783080" cy="283464"/>
          </a:xfrm>
          <a:prstGeom prst="roundRect">
            <a:avLst>
              <a:gd name="adj" fmla="val 12000"/>
            </a:avLst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GREY · poor audio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97680"/>
            <a:ext cx="108200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—  Advisory, not judge.</a:t>
            </a:r>
            <a:r>
              <a:rPr sz="1600">
                <a:solidFill>
                  <a:srgbClr val="6B7280"/>
                </a:solidFill>
                <a:latin typeface="Calibri"/>
              </a:rPr>
              <a:t>  The agent stays in control; VoiceShield names the evidence behind every alert.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—  Privacy by construction.</a:t>
            </a:r>
            <a:r>
              <a:rPr sz="1600">
                <a:solidFill>
                  <a:srgbClr val="6B7280"/>
                </a:solidFill>
                <a:latin typeface="Calibri"/>
              </a:rPr>
              <a:t>  A 10-second in-memory rolling buffer — no call recording ever touches disk.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—  Explainable.</a:t>
            </a:r>
            <a:r>
              <a:rPr sz="1600">
                <a:solidFill>
                  <a:srgbClr val="6B7280"/>
                </a:solidFill>
                <a:latin typeface="Calibri"/>
              </a:rPr>
              <a:t>  Each alert cites the artifact: phase discontinuity, over-smooth pitch, vocoder band energy.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Two-stage cascade: cheap screening, deep confirmation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Rolling buffer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10 s in-memory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88336" y="2377440"/>
            <a:ext cx="31089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35808" y="1965960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SNR + VAD gate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poor audio → GREY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8344" y="2377440"/>
            <a:ext cx="31089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85816" y="1965960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Forensic features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9 artifact panels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388352" y="2377440"/>
            <a:ext cx="310896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35824" y="1965960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Stage 1 screen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AASIST-L, every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035808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280"/>
                </a:solidFill>
                <a:latin typeface="Calibri"/>
              </a:rPr>
              <a:t>suspicion ≥ threshold — or periodic probe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549640" y="3310128"/>
            <a:ext cx="292608" cy="402336"/>
          </a:xfrm>
          <a:prstGeom prst="downArrow">
            <a:avLst/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77640" y="3657600"/>
            <a:ext cx="5669280" cy="155448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Stage 2 — deep ensemble</a:t>
            </a:r>
          </a:p>
          <a:p>
            <a:pPr algn="ctr"/>
            <a:r>
              <a:rPr sz="1200">
                <a:solidFill>
                  <a:srgbClr val="BFBFBF"/>
                </a:solidFill>
                <a:latin typeface="Calibri"/>
              </a:rPr>
              <a:t>XLS-R 300M · WavLM · phase/pitch rules — three input representations, two training domains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701784" y="4315968"/>
            <a:ext cx="45720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3657600"/>
            <a:ext cx="1600200" cy="15544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1A1A1A"/>
                </a:solidFill>
                <a:latin typeface="Calibri"/>
              </a:rPr>
              <a:t>Risk fusion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weighted + peak evidence · hysteresis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5778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Stage 1 screens every 500 ms chunk on-budget; the heavyweight ensemble engages only on suspicion (plus a periodic probe so a weak screen can never hide an attack). GREY always wins: no risk claims without fresh speech.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THE ENSEMBLE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Diversity beats any single detector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828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Calibri"/>
              </a:rPr>
              <a:t>WHAT IT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828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Calibri"/>
              </a:rPr>
              <a:t>WHAT IT CATCHES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182880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B7280"/>
                </a:solidFill>
                <a:latin typeface="Calibri"/>
              </a:rPr>
              <a:t>TRAINED 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67128"/>
            <a:ext cx="11094415" cy="566928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MMS-300M (NII)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212848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multilingual SSL, 74k h + RawBoost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221284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all families: GAN vocoders, TTS, VC, wild fakes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2212848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benchmark AUC 0.997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98064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XLS-R 300M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798064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self-supervised speech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798064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vocoder fingerprints in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798064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benchmark AUC 0.73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11094415" cy="566928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3832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WavLM-base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33832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self-supervised, In-the-Wild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338328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modern commercial TTS (ElevenLabs-class)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38328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benchmark AUC 0.87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68496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Phase / Pitch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9684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DSP rules — fully explainable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968496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artifact naming for the agent, zero fusion weight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3968496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explainability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70916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A1A1A"/>
                </a:solidFill>
                <a:latin typeface="Calibri"/>
              </a:rPr>
              <a:t>Selected by measurement, not marketing: we benchmarked 8 candidate detectors on 496 clips spanning 7 GAN vocoders (WaveFake), 100+ TTS/VC systems (ASVspoof 2021), wild internet deepfakes, and our own generated clones. Fusion weights and alert thresholds come from those measured score distributions.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715000"/>
            <a:ext cx="108200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Every component earns its fusion weight through validation — the same benchmark retired our original Stage 1 screener (AASIST-L: AUC 0.33 on real audio) and holds replay at zero weight (open problem, see roadmap).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Four properties competitors don't combine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57800" cy="17830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75687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Explainable &amp; multilingual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96311"/>
            <a:ext cx="4709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Every AMBER/RED names its artifact; validated on Hindi as well as English (EER 0%). Agents act on reasons, not black-box scores.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74519"/>
            <a:ext cx="5257800" cy="17830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75687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Privacy by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96311"/>
            <a:ext cx="4709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10-second in-memory buffer, zero persistent recording. Evidence saved only on explicit save-for-audit — aligned with Indian data-privacy expectations.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977639"/>
            <a:ext cx="5257800" cy="17830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78807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Same voice, still human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99431"/>
            <a:ext cx="4709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Beyond deepfake detection, ECAPA speaker-tracking flags a mid-call takeover or splice — the human-fraudster case biometrics miss.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977639"/>
            <a:ext cx="5257800" cy="178308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178807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Court-ready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599431"/>
            <a:ext cx="4709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6B7280"/>
                </a:solidFill>
                <a:latin typeface="Calibri"/>
              </a:rPr>
              <a:t>One click exports spectrogram + phase heatmap, SHA-256 audio hash, and the full per-model score envelope — a tamper-evident fraud case file.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MEASURED, NOT PROMISED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Validation results on real audio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92808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Detection accuracy — EER (standard anti-spoof metric)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883664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Calibri"/>
              </a:rPr>
              <a:t>3.1%  ·  AUC 0.997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41448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Fakes flagged RED ≤ 10 s (323 fakes ≥4 s: GAN, TTS, VC, wild, ElevenLabs)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542032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Calibri"/>
              </a:rPr>
              <a:t>99%  ·  median RED 2.0 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6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09544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Multilingual — Hindi (FLEURS genuine vs MMS-TTS fakes)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00400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Calibri"/>
              </a:rPr>
              <a:t>EER 0% · 100% flagged ≤5 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58184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67912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Genuine speech — 173 clips incl. codec + noisy wild domains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858768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7A43"/>
                </a:solidFill>
                <a:latin typeface="Calibri"/>
              </a:rPr>
              <a:t>3.5% false-RED · demo: zero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16552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26280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Precision @ 1% fraud rate — single chunk → 2-chunk hysteresis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517136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Calibri"/>
              </a:rPr>
              <a:t>18% → 82%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6858000" cy="585216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84648"/>
            <a:ext cx="6492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Latency per 500 ms chunk (60 W laptop GPU, cascade)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175504"/>
            <a:ext cx="37490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1A"/>
                </a:solidFill>
                <a:latin typeface="Calibri"/>
              </a:rPr>
              <a:t>p50 126 ms · p95 185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064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Problem statement asks: flag within the first 10 seconds — median RED is 2.0 s. Benchmarked on 496 clips (WaveFake, ASVspoof 2021 DF, In-the-Wild + generated clones). We report EER, not just AUC — and at a realistic 1% fraud rate the 2-chunk hysteresis rule is what lifts alert precision from 18% to 82%.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TECHNICAL MOAT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The models are public. The calibration is ours.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8200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Evidence-calibrated fusion.</a:t>
            </a:r>
            <a:r>
              <a:rPr sz="1500">
                <a:solidFill>
                  <a:srgbClr val="6B7280"/>
                </a:solidFill>
                <a:latin typeface="Calibri"/>
              </a:rPr>
              <a:t>  We benchmarked 8 detectors on 496 clips and encoded each model's measured failure modes into per-model peak-evidence rights — even retiring our first screener (AASIST, AUC 0.33 on real audio). Plug-and-play ensembles don't survive contact with real audio; ours was rebuilt to.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Honest metrics.</a:t>
            </a:r>
            <a:r>
              <a:rPr sz="1500">
                <a:solidFill>
                  <a:srgbClr val="6B7280"/>
                </a:solidFill>
                <a:latin typeface="Calibri"/>
              </a:rPr>
              <a:t>  We report EER (3.1%) and precision at a realistic 1% fraud rate, not just a flattering AUC. That analysis is why the pipeline uses 2-chunk hysteresis — it lifts alert precision from 18% to 82%.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Robustness engineered, not assumed.</a:t>
            </a:r>
            <a:r>
              <a:rPr sz="1500">
                <a:solidFill>
                  <a:srgbClr val="6B7280"/>
                </a:solidFill>
                <a:latin typeface="Calibri"/>
              </a:rPr>
              <a:t>  Neural VAD holds in noise where energy gating calls pure noise 'speech'; scores scale with voiced content; GREY overrides everything. Measured, with the noise limit (AUC 0.81 at 15 dB) documented rather than hidden.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We measured what doesn't work, too.</a:t>
            </a:r>
            <a:r>
              <a:rPr sz="1500">
                <a:solidFill>
                  <a:srgbClr val="6B7280"/>
                </a:solidFill>
                <a:latin typeface="Calibri"/>
              </a:rPr>
              <a:t>  Replay detection: we built 4 detectors and collected real loudspeaker recordings; none generalized to an unseen channel (AUC 0.19–0.72), reproducing the published state of the art (cross-channel EER 27–46%; passive replay is an open problem). So we hold it out of the verdict rather than false-flag genuine callers — see docs/REPLAY_FINDINGS.md.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DEPLOYABILITY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Drops into existing bank telephony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103120"/>
            <a:ext cx="2103120" cy="128016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Call center PBX / SBC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existing telephony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43784" y="2633472"/>
            <a:ext cx="45720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34747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B7280"/>
                </a:solidFill>
                <a:latin typeface="Calibri"/>
              </a:rPr>
              <a:t>RTP fork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10312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VoiceShield server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on-prem · 1 commodity GPU · CPU 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281928" y="2633472"/>
            <a:ext cx="457200" cy="14630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12280" y="2103120"/>
            <a:ext cx="2331720" cy="128016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Agent desktop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advisory badge · WebSocket, 2×/sec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20" y="2103120"/>
            <a:ext cx="2331720" cy="128016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300" b="1">
                <a:solidFill>
                  <a:srgbClr val="1A1A1A"/>
                </a:solidFill>
                <a:latin typeface="Calibri"/>
              </a:rPr>
              <a:t>Fraud team vault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evidence packages on demand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171432" y="2633472"/>
            <a:ext cx="219456" cy="146304"/>
          </a:xfrm>
          <a:prstGeom prst="rightArrow">
            <a:avLst/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977639"/>
            <a:ext cx="10820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Integration surface is two URLs.</a:t>
            </a:r>
            <a:r>
              <a:rPr sz="1500">
                <a:solidFill>
                  <a:srgbClr val="6B7280"/>
                </a:solidFill>
                <a:latin typeface="Calibri"/>
              </a:rPr>
              <a:t>  Versioned REST + WebSocket (/v1 frozen, /v2 ensemble) — CRM and agent-assist tools consume JSON; no telephony rework.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Compliance posture.</a:t>
            </a:r>
            <a:r>
              <a:rPr sz="1500">
                <a:solidFill>
                  <a:srgbClr val="6B7280"/>
                </a:solidFill>
                <a:latin typeface="Calibri"/>
              </a:rPr>
              <a:t>  No cloud dependency, no stored voice data, inference entirely on-premise; evidence export is explicit, hashed, and auditable.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Sizing.</a:t>
            </a:r>
            <a:r>
              <a:rPr sz="1500">
                <a:solidFill>
                  <a:srgbClr val="6B7280"/>
                </a:solidFill>
                <a:latin typeface="Calibri"/>
              </a:rPr>
              <a:t>  166 ms per 500 ms chunk on a laptop GPU today; one datacenter GPU serves multiple concurrent calls, and the cascade cuts average load further.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What you will see (5 minutes)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933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Genuine voice — live microphone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3957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Speak into the browser; verdict stays GREEN, artifacts panel stays quiet.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154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1363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Real ElevenLabs voice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387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Upload the cloned clip: AMBER at 3 s, RED at 5 s — watch the per-model score bars disagree, and fusion decide.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297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2793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Evidence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6817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One click produces the audit package: spectrogram, phase heatmap, SHA-256, score envelope.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Everything runs live on this laptop — the same stack that would sit in the bank's datacenter.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TECHNOLOGY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TRL 6 — demonstrated in a relevant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TRL 4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components validated in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62072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TRL 5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integrated pipeline validated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38344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TRL 6</a:t>
            </a:r>
          </a:p>
          <a:p>
            <a:pPr algn="ctr"/>
            <a:r>
              <a:rPr sz="1000">
                <a:solidFill>
                  <a:srgbClr val="BFBFBF"/>
                </a:solidFill>
                <a:latin typeface="Calibri"/>
              </a:rPr>
              <a:t>end-to-end system, live audio,</a:t>
            </a:r>
            <a:br/>
            <a:r>
              <a:rPr sz="1000">
                <a:solidFill>
                  <a:srgbClr val="6B7280"/>
                </a:solidFill>
                <a:latin typeface="Calibri"/>
              </a:rPr>
              <a:t>real pretrained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14616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6B7280"/>
                </a:solidFill>
                <a:latin typeface="Calibri"/>
              </a:rPr>
              <a:t>TRL 7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pilot on live call traffic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90888" y="1965960"/>
            <a:ext cx="2011680" cy="1143000"/>
          </a:xfrm>
          <a:prstGeom prst="roundRect">
            <a:avLst>
              <a:gd name="adj" fmla="val 12000"/>
            </a:avLst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500" b="1">
                <a:solidFill>
                  <a:srgbClr val="6B7280"/>
                </a:solidFill>
                <a:latin typeface="Calibri"/>
              </a:rPr>
              <a:t>TRL 8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hardened telephony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66160"/>
            <a:ext cx="108200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Working system, not slides.</a:t>
            </a:r>
            <a:r>
              <a:rPr sz="1500">
                <a:solidFill>
                  <a:srgbClr val="6B7280"/>
                </a:solidFill>
                <a:latin typeface="Calibri"/>
              </a:rPr>
              <a:t>  Live browser-mic capture → GPU ensemble → advisory dashboard, running end-to-end today at p95 166 ms per chunk.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Engineering rigor.</a:t>
            </a:r>
            <a:r>
              <a:rPr sz="1500">
                <a:solidFill>
                  <a:srgbClr val="6B7280"/>
                </a:solidFill>
                <a:latin typeface="Calibri"/>
              </a:rPr>
              <a:t>  94 automated tests including acceptance gates (false-alert rate, detection-time, latency); CI-gated; structured audit logging with trace IDs.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—  Validated against real attacks.</a:t>
            </a:r>
            <a:r>
              <a:rPr sz="1500">
                <a:solidFill>
                  <a:srgbClr val="6B7280"/>
                </a:solidFill>
                <a:latin typeface="Calibri"/>
              </a:rPr>
              <a:t>  Detected a genuine ElevenLabs clone of a real voice — the exact attack in the problem statement.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Calibri Light"/>
              </a:rPr>
              <a:t>From prototype to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502920" cy="330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651760"/>
            <a:ext cx="10820095" cy="25400"/>
          </a:xfrm>
          <a:prstGeom prst="rect">
            <a:avLst/>
          </a:prstGeom>
          <a:solidFill>
            <a:srgbClr val="D9D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2587752"/>
            <a:ext cx="155448" cy="15544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392B"/>
                </a:solidFill>
                <a:latin typeface="Calibri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443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Hackathon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64992"/>
            <a:ext cx="2651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cascade ensemble · multilingual · evidence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export · live dashboard</a:t>
            </a:r>
          </a:p>
        </p:txBody>
      </p:sp>
      <p:sp>
        <p:nvSpPr>
          <p:cNvPr id="10" name="Oval 9"/>
          <p:cNvSpPr/>
          <p:nvPr/>
        </p:nvSpPr>
        <p:spPr>
          <a:xfrm>
            <a:off x="3390823" y="2587752"/>
            <a:ext cx="155448" cy="1554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208483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+3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823" y="29443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Bank 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0823" y="3364992"/>
            <a:ext cx="2651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SIP/RTP tap on live traffic · replay via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challenge-response + replay-aware training</a:t>
            </a:r>
          </a:p>
        </p:txBody>
      </p:sp>
      <p:sp>
        <p:nvSpPr>
          <p:cNvPr id="14" name="Oval 13"/>
          <p:cNvSpPr/>
          <p:nvPr/>
        </p:nvSpPr>
        <p:spPr>
          <a:xfrm>
            <a:off x="6095846" y="2587752"/>
            <a:ext cx="155448" cy="1554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5846" y="208483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+6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6" y="29443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India-ready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6" y="3364992"/>
            <a:ext cx="2651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Hindi + regional-language robustness ·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multilingual anti-spoof model · agent rollout</a:t>
            </a:r>
          </a:p>
        </p:txBody>
      </p:sp>
      <p:sp>
        <p:nvSpPr>
          <p:cNvPr id="18" name="Oval 17"/>
          <p:cNvSpPr/>
          <p:nvPr/>
        </p:nvSpPr>
        <p:spPr>
          <a:xfrm>
            <a:off x="8800869" y="2587752"/>
            <a:ext cx="155448" cy="1554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00869" y="2084832"/>
            <a:ext cx="2194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B7280"/>
                </a:solidFill>
                <a:latin typeface="Calibri"/>
              </a:rPr>
              <a:t>+12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0869" y="29443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Network effect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0869" y="3364992"/>
            <a:ext cx="2651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cross-branch fraud analytics · voice-clone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280"/>
                </a:solidFill>
                <a:latin typeface="Calibri"/>
              </a:rPr>
              <a:t>threat intel shared across PSBs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93776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7280"/>
                </a:solidFill>
                <a:latin typeface="Calibri"/>
              </a:rPr>
              <a:t>Deliberate scope: detection accuracy and honest calibration first, telephony plumbing second. The API seams (versioned /v1 → /v2) mean each phase ships without breaking the last.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1A1A1A"/>
                </a:solidFill>
                <a:latin typeface="Calibri Light"/>
              </a:rPr>
              <a:t>The audio is the only evidence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1A1A1A"/>
                </a:solidFill>
                <a:latin typeface="Calibri Light"/>
              </a:rPr>
              <a:t>that cannot lie. We read it.</a:t>
            </a:r>
          </a:p>
        </p:txBody>
      </p:sp>
      <p:sp>
        <p:nvSpPr>
          <p:cNvPr id="3" name="Rectangle 2"/>
          <p:cNvSpPr/>
          <p:nvPr/>
        </p:nvSpPr>
        <p:spPr>
          <a:xfrm>
            <a:off x="704088" y="3977639"/>
            <a:ext cx="822960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B7280"/>
                </a:solidFill>
                <a:latin typeface="Calibri"/>
              </a:rPr>
              <a:t>VoiceShield — Team Jigyasa  ·  Questions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VoiceShield · Team Jigyasa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8695" y="644652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