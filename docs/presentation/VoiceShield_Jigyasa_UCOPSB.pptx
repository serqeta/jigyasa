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148840"/>
            <a:ext cx="9144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1A1A1A"/>
                </a:solidFill>
                <a:latin typeface="Calibri Light"/>
              </a:rPr>
              <a:t>VoiceShield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704088" y="3063240"/>
            <a:ext cx="822960" cy="381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918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B7280"/>
                </a:solidFill>
                <a:latin typeface="Calibri"/>
              </a:rPr>
              <a:t>Real-time audio forensics that flags cloned voices on live calls — within 10 seconds.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7607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7280"/>
                </a:solidFill>
                <a:latin typeface="Calibri"/>
              </a:rPr>
              <a:t>Team Jigyasa  ·  Amit Anand · Suraj Harlekar · Aditya Dubey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7280"/>
                </a:solidFill>
                <a:latin typeface="Calibri"/>
              </a:rPr>
              <a:t>UCO PSB Hackathon · Problem Statement 2 · Audio Forensics for Voice Security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6B7280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8200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1A"/>
                </a:solidFill>
                <a:latin typeface="Calibri Light"/>
              </a:rPr>
              <a:t>A voice is no longer proof of identity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502920" cy="330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920240"/>
            <a:ext cx="3383280" cy="2103120"/>
          </a:xfrm>
          <a:prstGeom prst="roundRect">
            <a:avLst>
              <a:gd name="adj" fmla="val 12000"/>
            </a:avLst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94560"/>
            <a:ext cx="2834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1A1A1A"/>
                </a:solidFill>
                <a:latin typeface="Calibri Light"/>
              </a:rPr>
              <a:t>3 sec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108960"/>
            <a:ext cx="2834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7280"/>
                </a:solidFill>
                <a:latin typeface="Calibri"/>
              </a:rPr>
              <a:t>of audio is enough to clone a voice with ~85% similarity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20240"/>
            <a:ext cx="3383280" cy="2103120"/>
          </a:xfrm>
          <a:prstGeom prst="roundRect">
            <a:avLst>
              <a:gd name="adj" fmla="val 12000"/>
            </a:avLst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194560"/>
            <a:ext cx="2834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1A1A1A"/>
                </a:solidFill>
                <a:latin typeface="Calibri Light"/>
              </a:rPr>
              <a:t>+442%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108960"/>
            <a:ext cx="2834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7280"/>
                </a:solidFill>
                <a:latin typeface="Calibri"/>
              </a:rPr>
              <a:t>surge in voice-phishing attacks in 2025, driven by AI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920240"/>
            <a:ext cx="3383280" cy="2103120"/>
          </a:xfrm>
          <a:prstGeom prst="roundRect">
            <a:avLst>
              <a:gd name="adj" fmla="val 12000"/>
            </a:avLst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2194560"/>
            <a:ext cx="2834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C0392B"/>
                </a:solidFill>
                <a:latin typeface="Calibri Light"/>
              </a:rPr>
              <a:t>$40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3108960"/>
            <a:ext cx="2834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7280"/>
                </a:solidFill>
                <a:latin typeface="Calibri"/>
              </a:rPr>
              <a:t>projected annual US losses to AI-enabled fraud by 2027 (Deloitte)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572000"/>
            <a:ext cx="108200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A1A1A"/>
                </a:solidFill>
                <a:latin typeface="Calibri"/>
              </a:rPr>
              <a:t>Fraudsters clone a customer's voice to defeat voice-biometric checks and to socially engineer call-center agents into moving money.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1A1A1A"/>
                </a:solidFill>
                <a:latin typeface="Calibri"/>
              </a:rPr>
              <a:t>Today's defenses — caller ID, phone-number metadata — are trivially spoofed. The audio itself is the only evidence that cannot lie.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Calibri"/>
              </a:rPr>
              <a:t>VoiceShield · Team Jigyasa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8695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6B7280"/>
                </a:solidFill>
                <a:latin typeface="Calibri"/>
              </a:rPr>
              <a:t>OUR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8200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1A"/>
                </a:solidFill>
                <a:latin typeface="Calibri Light"/>
              </a:rPr>
              <a:t>Listening for synthesis, not identity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502920" cy="330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2286000"/>
            <a:ext cx="2286000" cy="1371600"/>
          </a:xfrm>
          <a:prstGeom prst="roundRect">
            <a:avLst>
              <a:gd name="adj" fmla="val 12000"/>
            </a:avLst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500" b="1">
                <a:solidFill>
                  <a:srgbClr val="1A1A1A"/>
                </a:solidFill>
                <a:latin typeface="Calibri"/>
              </a:rPr>
              <a:t>Live call audio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500 ms chunks · 16 kHz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044952" y="2898648"/>
            <a:ext cx="502920" cy="14630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D9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11880" y="2286000"/>
            <a:ext cx="3017520" cy="1371600"/>
          </a:xfrm>
          <a:prstGeom prst="roundRect">
            <a:avLst>
              <a:gd name="adj" fmla="val 12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VoiceShield pipeline</a:t>
            </a:r>
          </a:p>
          <a:p>
            <a:pPr algn="ctr"/>
            <a:r>
              <a:rPr sz="1000">
                <a:solidFill>
                  <a:srgbClr val="BFBFBF"/>
                </a:solidFill>
                <a:latin typeface="Calibri"/>
              </a:rPr>
              <a:t>forensic features · model ensemble · risk fusion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702552" y="2898648"/>
            <a:ext cx="502920" cy="14630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D9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269480" y="2286000"/>
            <a:ext cx="2377440" cy="1371600"/>
          </a:xfrm>
          <a:prstGeom prst="roundRect">
            <a:avLst>
              <a:gd name="adj" fmla="val 12000"/>
            </a:avLst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500" b="1">
                <a:solidFill>
                  <a:srgbClr val="1A1A1A"/>
                </a:solidFill>
                <a:latin typeface="Calibri"/>
              </a:rPr>
              <a:t>Agent advisory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verdict ≤ 10 s of audio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2313432"/>
            <a:ext cx="1783080" cy="283464"/>
          </a:xfrm>
          <a:prstGeom prst="roundRect">
            <a:avLst>
              <a:gd name="adj" fmla="val 12000"/>
            </a:avLst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GREEN · continue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921240" y="2660904"/>
            <a:ext cx="1783080" cy="283464"/>
          </a:xfrm>
          <a:prstGeom prst="roundRect">
            <a:avLst>
              <a:gd name="adj" fmla="val 12000"/>
            </a:avLst>
          </a:prstGeom>
          <a:solidFill>
            <a:srgbClr val="B4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AMBER · escalate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921240" y="3008376"/>
            <a:ext cx="1783080" cy="283464"/>
          </a:xfrm>
          <a:prstGeom prst="roundRect">
            <a:avLst>
              <a:gd name="adj" fmla="val 12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RED · terminate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921240" y="3355848"/>
            <a:ext cx="1783080" cy="283464"/>
          </a:xfrm>
          <a:prstGeom prst="roundRect">
            <a:avLst>
              <a:gd name="adj" fmla="val 12000"/>
            </a:avLst>
          </a:prstGeom>
          <a:solidFill>
            <a:srgbClr val="8A8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GREY · poor audio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297680"/>
            <a:ext cx="1082009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1A1A1A"/>
                </a:solidFill>
                <a:latin typeface="Calibri"/>
              </a:rPr>
              <a:t>—  Advisory, not judge.</a:t>
            </a:r>
            <a:r>
              <a:rPr sz="1600">
                <a:solidFill>
                  <a:srgbClr val="6B7280"/>
                </a:solidFill>
                <a:latin typeface="Calibri"/>
              </a:rPr>
              <a:t>  The agent stays in control; VoiceShield names the evidence behind every alert.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1A1A1A"/>
                </a:solidFill>
                <a:latin typeface="Calibri"/>
              </a:rPr>
              <a:t>—  Privacy by construction.</a:t>
            </a:r>
            <a:r>
              <a:rPr sz="1600">
                <a:solidFill>
                  <a:srgbClr val="6B7280"/>
                </a:solidFill>
                <a:latin typeface="Calibri"/>
              </a:rPr>
              <a:t>  A 10-second in-memory rolling buffer — no call recording ever touches disk.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1A1A1A"/>
                </a:solidFill>
                <a:latin typeface="Calibri"/>
              </a:rPr>
              <a:t>—  Explainable.</a:t>
            </a:r>
            <a:r>
              <a:rPr sz="1600">
                <a:solidFill>
                  <a:srgbClr val="6B7280"/>
                </a:solidFill>
                <a:latin typeface="Calibri"/>
              </a:rPr>
              <a:t>  Each alert cites the artifact: phase discontinuity, over-smooth pitch, vocoder band energy.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Calibri"/>
              </a:rPr>
              <a:t>VoiceShield · Team Jigyasa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8695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6B7280"/>
                </a:solidFill>
                <a:latin typeface="Calibri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8200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1A"/>
                </a:solidFill>
                <a:latin typeface="Calibri Light"/>
              </a:rPr>
              <a:t>Two-stage cascade: cheap screening, deep confirmation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502920" cy="330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965960"/>
            <a:ext cx="1965960" cy="960120"/>
          </a:xfrm>
          <a:prstGeom prst="roundRect">
            <a:avLst>
              <a:gd name="adj" fmla="val 12000"/>
            </a:avLst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>
                <a:solidFill>
                  <a:srgbClr val="1A1A1A"/>
                </a:solidFill>
                <a:latin typeface="Calibri"/>
              </a:rPr>
              <a:t>Rolling buffer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10 s in-memory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88336" y="2377440"/>
            <a:ext cx="310896" cy="14630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D9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035808" y="1965960"/>
            <a:ext cx="1965960" cy="960120"/>
          </a:xfrm>
          <a:prstGeom prst="roundRect">
            <a:avLst>
              <a:gd name="adj" fmla="val 12000"/>
            </a:avLst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>
                <a:solidFill>
                  <a:srgbClr val="1A1A1A"/>
                </a:solidFill>
                <a:latin typeface="Calibri"/>
              </a:rPr>
              <a:t>SNR + VAD gate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poor audio → GREY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038344" y="2377440"/>
            <a:ext cx="310896" cy="14630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D9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385816" y="1965960"/>
            <a:ext cx="1965960" cy="960120"/>
          </a:xfrm>
          <a:prstGeom prst="roundRect">
            <a:avLst>
              <a:gd name="adj" fmla="val 12000"/>
            </a:avLst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>
                <a:solidFill>
                  <a:srgbClr val="1A1A1A"/>
                </a:solidFill>
                <a:latin typeface="Calibri"/>
              </a:rPr>
              <a:t>Forensic features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9 artifact panels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388352" y="2377440"/>
            <a:ext cx="310896" cy="14630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D9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35824" y="1965960"/>
            <a:ext cx="1965960" cy="960120"/>
          </a:xfrm>
          <a:prstGeom prst="roundRect">
            <a:avLst>
              <a:gd name="adj" fmla="val 12000"/>
            </a:avLst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>
                <a:solidFill>
                  <a:srgbClr val="1A1A1A"/>
                </a:solidFill>
                <a:latin typeface="Calibri"/>
              </a:rPr>
              <a:t>Stage 1 screen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AASIST-L, every chunk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3035808"/>
            <a:ext cx="3291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B7280"/>
                </a:solidFill>
                <a:latin typeface="Calibri"/>
              </a:rPr>
              <a:t>suspicion ≥ threshold — or periodic probe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8549640" y="3310128"/>
            <a:ext cx="292608" cy="402336"/>
          </a:xfrm>
          <a:prstGeom prst="downArrow">
            <a:avLst/>
          </a:prstGeom>
          <a:solidFill>
            <a:srgbClr val="D9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977640" y="3657600"/>
            <a:ext cx="5669280" cy="1554480"/>
          </a:xfrm>
          <a:prstGeom prst="roundRect">
            <a:avLst>
              <a:gd name="adj" fmla="val 12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Stage 2 — deep ensemble</a:t>
            </a:r>
          </a:p>
          <a:p>
            <a:pPr algn="ctr"/>
            <a:r>
              <a:rPr sz="1200">
                <a:solidFill>
                  <a:srgbClr val="BFBFBF"/>
                </a:solidFill>
                <a:latin typeface="Calibri"/>
              </a:rPr>
              <a:t>XLS-R 300M · WavLM · phase/pitch rules — three input representations, two training domains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701784" y="4315968"/>
            <a:ext cx="457200" cy="14630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D9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195560" y="3657600"/>
            <a:ext cx="1600200" cy="1554480"/>
          </a:xfrm>
          <a:prstGeom prst="roundRect">
            <a:avLst>
              <a:gd name="adj" fmla="val 12000"/>
            </a:avLst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>
                <a:solidFill>
                  <a:srgbClr val="1A1A1A"/>
                </a:solidFill>
                <a:latin typeface="Calibri"/>
              </a:rPr>
              <a:t>Risk fusion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weighted + peak evidence · hysteresis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577840"/>
            <a:ext cx="108200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6B7280"/>
                </a:solidFill>
                <a:latin typeface="Calibri"/>
              </a:rPr>
              <a:t>Stage 1 screens every 500 ms chunk on-budget; the heavyweight ensemble engages only on suspicion (plus a periodic probe so a weak screen can never hide an attack). GREY always wins: no risk claims without fresh speech.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Calibri"/>
              </a:rPr>
              <a:t>VoiceShield · Team Jigyasa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48695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6B7280"/>
                </a:solidFill>
                <a:latin typeface="Calibri"/>
              </a:rPr>
              <a:t>THE ENSEMBLE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8200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1A"/>
                </a:solidFill>
                <a:latin typeface="Calibri Light"/>
              </a:rPr>
              <a:t>Diversity beats any single detector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502920" cy="330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Calibri"/>
              </a:rPr>
              <a:t>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1828800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Calibri"/>
              </a:rPr>
              <a:t>WHAT IT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40680" y="1828800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Calibri"/>
              </a:rPr>
              <a:t>WHAT IT CATCHES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89720" y="1828800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Calibri"/>
              </a:rPr>
              <a:t>TRAINED 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67128"/>
            <a:ext cx="11094415" cy="566928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212848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1A1A"/>
                </a:solidFill>
                <a:latin typeface="Calibri"/>
              </a:rPr>
              <a:t>MMS-300M (NII)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2212848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7280"/>
                </a:solidFill>
                <a:latin typeface="Calibri"/>
              </a:rPr>
              <a:t>multilingual SSL, 74k h + RawBoost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2212848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all families: GAN vocoders, TTS, VC, wild fakes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2212848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7280"/>
                </a:solidFill>
                <a:latin typeface="Calibri"/>
              </a:rPr>
              <a:t>benchmark AUC 0.997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798064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1A1A"/>
                </a:solidFill>
                <a:latin typeface="Calibri"/>
              </a:rPr>
              <a:t>XLS-R 300M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2798064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7280"/>
                </a:solidFill>
                <a:latin typeface="Calibri"/>
              </a:rPr>
              <a:t>self-supervised speech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2798064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vocoder fingerprints in embeddings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798064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7280"/>
                </a:solidFill>
                <a:latin typeface="Calibri"/>
              </a:rPr>
              <a:t>benchmark AUC 0.73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337560"/>
            <a:ext cx="11094415" cy="566928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38328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1A1A"/>
                </a:solidFill>
                <a:latin typeface="Calibri"/>
              </a:rPr>
              <a:t>WavLM-base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3383280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7280"/>
                </a:solidFill>
                <a:latin typeface="Calibri"/>
              </a:rPr>
              <a:t>self-supervised, In-the-Wild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338328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modern commercial TTS (ElevenLabs-class)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338328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7280"/>
                </a:solidFill>
                <a:latin typeface="Calibri"/>
              </a:rPr>
              <a:t>benchmark AUC 0.87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968496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1A1A"/>
                </a:solidFill>
                <a:latin typeface="Calibri"/>
              </a:rPr>
              <a:t>Phase / Pitch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3968496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7280"/>
                </a:solidFill>
                <a:latin typeface="Calibri"/>
              </a:rPr>
              <a:t>DSP rules — fully explainable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40680" y="3968496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artifact naming for the agent, zero fusion weight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720" y="3968496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7280"/>
                </a:solidFill>
                <a:latin typeface="Calibri"/>
              </a:rPr>
              <a:t>explainability layer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709160"/>
            <a:ext cx="108200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A1A1A"/>
                </a:solidFill>
                <a:latin typeface="Calibri"/>
              </a:rPr>
              <a:t>Selected by measurement, not marketing: we benchmarked 8 candidate detectors on 496 clips spanning 7 GAN vocoders (WaveFake), 100+ TTS/VC systems (ASVspoof 2021), wild internet deepfakes, and our own generated clones. Fusion weights and alert thresholds come from those measured score distributions.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5715000"/>
            <a:ext cx="108200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B7280"/>
                </a:solidFill>
                <a:latin typeface="Calibri"/>
              </a:rPr>
              <a:t>Every component earns its fusion weight through validation — the same benchmark retired our original Stage 1 screener (AASIST-L: AUC 0.33 on real audio) and holds replay at zero weight (open problem, see roadmap).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Calibri"/>
              </a:rPr>
              <a:t>VoiceShield · Team Jigyasa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48695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6B7280"/>
                </a:solidFill>
                <a:latin typeface="Calibri"/>
              </a:rPr>
              <a:t>WHAT MAKES IT DIFFERENT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8200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1A"/>
                </a:solidFill>
                <a:latin typeface="Calibri Light"/>
              </a:rPr>
              <a:t>Four properties competitors don't combine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502920" cy="330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5257800" cy="1783080"/>
          </a:xfrm>
          <a:prstGeom prst="roundRect">
            <a:avLst>
              <a:gd name="adj" fmla="val 12000"/>
            </a:avLst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75687"/>
            <a:ext cx="4709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1A"/>
                </a:solidFill>
                <a:latin typeface="Calibri"/>
              </a:rPr>
              <a:t>Explainable &amp; multilingual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496311"/>
            <a:ext cx="4709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280"/>
                </a:solidFill>
                <a:latin typeface="Calibri"/>
              </a:rPr>
              <a:t>Every AMBER/RED names its artifact; validated on Hindi as well as English (EER 0%). Agents act on reasons, not black-box scores.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874519"/>
            <a:ext cx="5257800" cy="1783080"/>
          </a:xfrm>
          <a:prstGeom prst="roundRect">
            <a:avLst>
              <a:gd name="adj" fmla="val 12000"/>
            </a:avLst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075687"/>
            <a:ext cx="4709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1A"/>
                </a:solidFill>
                <a:latin typeface="Calibri"/>
              </a:rPr>
              <a:t>Privacy by design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496311"/>
            <a:ext cx="4709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280"/>
                </a:solidFill>
                <a:latin typeface="Calibri"/>
              </a:rPr>
              <a:t>10-second in-memory buffer, zero persistent recording. Evidence saved only on explicit save-for-audit — aligned with Indian data-privacy expectations.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977639"/>
            <a:ext cx="5257800" cy="1783080"/>
          </a:xfrm>
          <a:prstGeom prst="roundRect">
            <a:avLst>
              <a:gd name="adj" fmla="val 12000"/>
            </a:avLst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78807"/>
            <a:ext cx="4709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1A"/>
                </a:solidFill>
                <a:latin typeface="Calibri"/>
              </a:rPr>
              <a:t>Same voice, still human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599431"/>
            <a:ext cx="4709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280"/>
                </a:solidFill>
                <a:latin typeface="Calibri"/>
              </a:rPr>
              <a:t>Beyond deepfake detection, ECAPA speaker-tracking flags a mid-call takeover or splice — the human-fraudster case biometrics miss.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3977639"/>
            <a:ext cx="5257800" cy="1783080"/>
          </a:xfrm>
          <a:prstGeom prst="roundRect">
            <a:avLst>
              <a:gd name="adj" fmla="val 12000"/>
            </a:avLst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4178807"/>
            <a:ext cx="4709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1A"/>
                </a:solidFill>
                <a:latin typeface="Calibri"/>
              </a:rPr>
              <a:t>Court-ready 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599431"/>
            <a:ext cx="4709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280"/>
                </a:solidFill>
                <a:latin typeface="Calibri"/>
              </a:rPr>
              <a:t>One click exports spectrogram + phase heatmap, SHA-256 audio hash, and the full per-model score envelope — a tamper-evident fraud case file.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Calibri"/>
              </a:rPr>
              <a:t>VoiceShield · Team Jigyasa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48695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6B7280"/>
                </a:solidFill>
                <a:latin typeface="Calibri"/>
              </a:rPr>
              <a:t>MEASURED, NOT PROMISED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8200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1A"/>
                </a:solidFill>
                <a:latin typeface="Calibri Light"/>
              </a:rPr>
              <a:t>Validation results on real audio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502920" cy="330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6858000" cy="585216"/>
          </a:xfrm>
          <a:prstGeom prst="roundRect">
            <a:avLst>
              <a:gd name="adj" fmla="val 12000"/>
            </a:avLst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92808"/>
            <a:ext cx="6492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Detection accuracy — EER (standard anti-spoof metric)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8120" y="1883664"/>
            <a:ext cx="374903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C0392B"/>
                </a:solidFill>
                <a:latin typeface="Calibri"/>
              </a:rPr>
              <a:t>3.1%  ·  AUC 0.997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41448"/>
            <a:ext cx="6858000" cy="585216"/>
          </a:xfrm>
          <a:prstGeom prst="roundRect">
            <a:avLst>
              <a:gd name="adj" fmla="val 12000"/>
            </a:avLst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551176"/>
            <a:ext cx="6492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Fakes flagged RED ≤ 10 s (323 fakes ≥4 s: GAN, TTS, VC, wild, ElevenLabs)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2542032"/>
            <a:ext cx="374903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C0392B"/>
                </a:solidFill>
                <a:latin typeface="Calibri"/>
              </a:rPr>
              <a:t>99%  ·  median RED 2.0 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099816"/>
            <a:ext cx="6858000" cy="585216"/>
          </a:xfrm>
          <a:prstGeom prst="roundRect">
            <a:avLst>
              <a:gd name="adj" fmla="val 12000"/>
            </a:avLst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209544"/>
            <a:ext cx="6492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Multilingual — Hindi (FLEURS genuine vs MMS-TTS fakes)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3200400"/>
            <a:ext cx="374903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C0392B"/>
                </a:solidFill>
                <a:latin typeface="Calibri"/>
              </a:rPr>
              <a:t>EER 0% · 100% flagged ≤5 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758184"/>
            <a:ext cx="6858000" cy="585216"/>
          </a:xfrm>
          <a:prstGeom prst="roundRect">
            <a:avLst>
              <a:gd name="adj" fmla="val 12000"/>
            </a:avLst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867912"/>
            <a:ext cx="6492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Genuine speech — 173 clips incl. codec + noisy wild domains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3858768"/>
            <a:ext cx="374903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B7A43"/>
                </a:solidFill>
                <a:latin typeface="Calibri"/>
              </a:rPr>
              <a:t>3.5% false-RED · demo: zero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416552"/>
            <a:ext cx="6858000" cy="585216"/>
          </a:xfrm>
          <a:prstGeom prst="roundRect">
            <a:avLst>
              <a:gd name="adj" fmla="val 12000"/>
            </a:avLst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26280"/>
            <a:ext cx="6492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Precision @ 1% fraud rate — single chunk → 2-chunk hysteresis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4517136"/>
            <a:ext cx="374903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1A"/>
                </a:solidFill>
                <a:latin typeface="Calibri"/>
              </a:rPr>
              <a:t>18% → 82%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074920"/>
            <a:ext cx="6858000" cy="585216"/>
          </a:xfrm>
          <a:prstGeom prst="roundRect">
            <a:avLst>
              <a:gd name="adj" fmla="val 12000"/>
            </a:avLst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184648"/>
            <a:ext cx="6492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Latency per 500 ms chunk (60 W laptop GPU, cascade)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5175504"/>
            <a:ext cx="374903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1A"/>
                </a:solidFill>
                <a:latin typeface="Calibri"/>
              </a:rPr>
              <a:t>p50 126 ms · p95 185 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806440"/>
            <a:ext cx="108200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B7280"/>
                </a:solidFill>
                <a:latin typeface="Calibri"/>
              </a:rPr>
              <a:t>Problem statement asks: flag within the first 10 seconds — median RED is 2.0 s. Benchmarked on 496 clips (WaveFake, ASVspoof 2021 DF, In-the-Wild + generated clones). We report EER, not just AUC — and at a realistic 1% fraud rate the 2-chunk hysteresis rule is what lifts alert precision from 18% to 82%.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Calibri"/>
              </a:rPr>
              <a:t>VoiceShield · Team Jigyasa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48695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6B7280"/>
                </a:solidFill>
                <a:latin typeface="Calibri"/>
              </a:rPr>
              <a:t>TECHNICAL MOAT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8200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1A"/>
                </a:solidFill>
                <a:latin typeface="Calibri Light"/>
              </a:rPr>
              <a:t>The models are public. The calibration is ours.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502920" cy="330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74519"/>
            <a:ext cx="10820095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—  Evidence-calibrated fusion.</a:t>
            </a:r>
            <a:r>
              <a:rPr sz="1500">
                <a:solidFill>
                  <a:srgbClr val="6B7280"/>
                </a:solidFill>
                <a:latin typeface="Calibri"/>
              </a:rPr>
              <a:t>  We benchmarked 8 detectors on 496 clips and encoded each model's measured failure modes into per-model peak-evidence rights — even retiring our first screener (AASIST, AUC 0.33 on real audio). Plug-and-play ensembles don't survive contact with real audio; ours was rebuilt to.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—  Honest metrics.</a:t>
            </a:r>
            <a:r>
              <a:rPr sz="1500">
                <a:solidFill>
                  <a:srgbClr val="6B7280"/>
                </a:solidFill>
                <a:latin typeface="Calibri"/>
              </a:rPr>
              <a:t>  We report EER (3.1%) and precision at a realistic 1% fraud rate, not just a flattering AUC. That analysis is why the pipeline uses 2-chunk hysteresis — it lifts alert precision from 18% to 82%.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—  Robustness engineered, not assumed.</a:t>
            </a:r>
            <a:r>
              <a:rPr sz="1500">
                <a:solidFill>
                  <a:srgbClr val="6B7280"/>
                </a:solidFill>
                <a:latin typeface="Calibri"/>
              </a:rPr>
              <a:t>  Neural VAD holds in noise where energy gating calls pure noise 'speech'; scores scale with voiced content; GREY overrides everything. Measured, with the noise limit (AUC 0.81 at 15 dB) documented rather than hidden.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—  We solved the hard one honestly.</a:t>
            </a:r>
            <a:r>
              <a:rPr sz="1500">
                <a:solidFill>
                  <a:srgbClr val="6B7280"/>
                </a:solidFill>
                <a:latin typeface="Calibri"/>
              </a:rPr>
              <a:t>  Replay: five approaches reproduced the literature's channel wall (AUC 0.19–0.87) — then LoRA-fine-tuning wav2vec2 on a real replay corpus (EchoFake) with channel augmentation cracked the wideband case: cross-channel AUC 0.97 on recordings the model never trained on. Shipped at a verify-don't-block weight; narrowband telephony stays honest pilot work. Synthesis detection is telephony-robust (NII 0.93 through G.711/AMR/G.722). Every number measured on real audio — see docs/REPLAY_FINDINGS.md.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Calibri"/>
              </a:rPr>
              <a:t>VoiceShield · Team Jigyasa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6B7280"/>
                </a:solidFill>
                <a:latin typeface="Calibri"/>
              </a:rPr>
              <a:t>DEPLOYABILITY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8200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1A"/>
                </a:solidFill>
                <a:latin typeface="Calibri Light"/>
              </a:rPr>
              <a:t>Drops into existing bank telephony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502920" cy="330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2103120"/>
            <a:ext cx="2103120" cy="1280160"/>
          </a:xfrm>
          <a:prstGeom prst="roundRect">
            <a:avLst>
              <a:gd name="adj" fmla="val 12000"/>
            </a:avLst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Call center PBX / SBC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existing telephony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43784" y="2633472"/>
            <a:ext cx="457200" cy="14630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D9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68880" y="347472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Calibri"/>
              </a:rPr>
              <a:t>RTP fork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2103120"/>
            <a:ext cx="2834640" cy="1280160"/>
          </a:xfrm>
          <a:prstGeom prst="roundRect">
            <a:avLst>
              <a:gd name="adj" fmla="val 12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VoiceShield server</a:t>
            </a:r>
          </a:p>
          <a:p>
            <a:pPr algn="ctr"/>
            <a:r>
              <a:rPr sz="1000">
                <a:solidFill>
                  <a:srgbClr val="BFBFBF"/>
                </a:solidFill>
                <a:latin typeface="Calibri"/>
              </a:rPr>
              <a:t>on-prem · 1 commodity GPU · CPU fallback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281928" y="2633472"/>
            <a:ext cx="457200" cy="14630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D9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12280" y="2103120"/>
            <a:ext cx="2331720" cy="1280160"/>
          </a:xfrm>
          <a:prstGeom prst="roundRect">
            <a:avLst>
              <a:gd name="adj" fmla="val 12000"/>
            </a:avLst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Agent desktop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advisory badge · WebSocket, 2×/sec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18320" y="2103120"/>
            <a:ext cx="2331720" cy="1280160"/>
          </a:xfrm>
          <a:prstGeom prst="roundRect">
            <a:avLst>
              <a:gd name="adj" fmla="val 12000"/>
            </a:avLst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Fraud team vault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evidence packages on demand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171432" y="2633472"/>
            <a:ext cx="219456" cy="146304"/>
          </a:xfrm>
          <a:prstGeom prst="rightArrow">
            <a:avLst/>
          </a:prstGeom>
          <a:solidFill>
            <a:srgbClr val="D9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977639"/>
            <a:ext cx="108200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—  Integration surface is two URLs.</a:t>
            </a:r>
            <a:r>
              <a:rPr sz="1500">
                <a:solidFill>
                  <a:srgbClr val="6B7280"/>
                </a:solidFill>
                <a:latin typeface="Calibri"/>
              </a:rPr>
              <a:t>  Versioned REST + WebSocket (/v1 frozen, /v2 ensemble) — CRM and agent-assist tools consume JSON; no telephony rework.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—  Compliance posture.</a:t>
            </a:r>
            <a:r>
              <a:rPr sz="1500">
                <a:solidFill>
                  <a:srgbClr val="6B7280"/>
                </a:solidFill>
                <a:latin typeface="Calibri"/>
              </a:rPr>
              <a:t>  No cloud dependency, no stored voice data, inference entirely on-premise; evidence export is explicit, hashed, and auditable.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—  Sizing.</a:t>
            </a:r>
            <a:r>
              <a:rPr sz="1500">
                <a:solidFill>
                  <a:srgbClr val="6B7280"/>
                </a:solidFill>
                <a:latin typeface="Calibri"/>
              </a:rPr>
              <a:t>  166 ms per 500 ms chunk on a laptop GPU today; one datacenter GPU serves multiple concurrent calls, and the cascade cuts average load further.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Calibri"/>
              </a:rPr>
              <a:t>VoiceShield · Team Jigyasa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48695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6B7280"/>
                </a:solidFill>
                <a:latin typeface="Calibr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8200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1A"/>
                </a:solidFill>
                <a:latin typeface="Calibri Light"/>
              </a:rPr>
              <a:t>What you will see (5 minutes)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502920" cy="330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2011680"/>
            <a:ext cx="457200" cy="4572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993392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Genuine voice — live microphone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395728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7280"/>
                </a:solidFill>
                <a:latin typeface="Calibri"/>
              </a:rPr>
              <a:t>Speak into the browser; verdict stays GREEN, artifacts panel stays quiet.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3154680"/>
            <a:ext cx="457200" cy="4572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136392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Real ElevenLabs voice clone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38728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7280"/>
                </a:solidFill>
                <a:latin typeface="Calibri"/>
              </a:rPr>
              <a:t>Upload the cloned clip: AMBER at 3 s, RED at 5 s — watch the per-model score bars disagree, and fusion decide.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4297680"/>
            <a:ext cx="457200" cy="4572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279392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Evidence export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681728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7280"/>
                </a:solidFill>
                <a:latin typeface="Calibri"/>
              </a:rPr>
              <a:t>One click produces the audit package: spectrogram, phase heatmap, SHA-256, score envelope.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669280"/>
            <a:ext cx="108200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7280"/>
                </a:solidFill>
                <a:latin typeface="Calibri"/>
              </a:rPr>
              <a:t>Everything runs live on this laptop — the same stack that would sit in the bank's datacenter.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Calibri"/>
              </a:rPr>
              <a:t>VoiceShield · Team Jigyasa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8695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6B7280"/>
                </a:solidFill>
                <a:latin typeface="Calibri"/>
              </a:rPr>
              <a:t>TECHNOLOGY READINESS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8200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1A"/>
                </a:solidFill>
                <a:latin typeface="Calibri Light"/>
              </a:rPr>
              <a:t>TRL 6 — demonstrated in a relevant environment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502920" cy="330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965960"/>
            <a:ext cx="2011680" cy="1143000"/>
          </a:xfrm>
          <a:prstGeom prst="roundRect">
            <a:avLst>
              <a:gd name="adj" fmla="val 12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TRL 4</a:t>
            </a:r>
          </a:p>
          <a:p>
            <a:pPr algn="ctr"/>
            <a:r>
              <a:rPr sz="1000">
                <a:solidFill>
                  <a:srgbClr val="BFBFBF"/>
                </a:solidFill>
                <a:latin typeface="Calibri"/>
              </a:rPr>
              <a:t>components validated in lab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62072" y="1965960"/>
            <a:ext cx="2011680" cy="1143000"/>
          </a:xfrm>
          <a:prstGeom prst="roundRect">
            <a:avLst>
              <a:gd name="adj" fmla="val 12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TRL 5</a:t>
            </a:r>
          </a:p>
          <a:p>
            <a:pPr algn="ctr"/>
            <a:r>
              <a:rPr sz="1000">
                <a:solidFill>
                  <a:srgbClr val="BFBFBF"/>
                </a:solidFill>
                <a:latin typeface="Calibri"/>
              </a:rPr>
              <a:t>integrated pipeline validated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38344" y="1965960"/>
            <a:ext cx="2011680" cy="1143000"/>
          </a:xfrm>
          <a:prstGeom prst="roundRect">
            <a:avLst>
              <a:gd name="adj" fmla="val 12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TRL 6</a:t>
            </a:r>
          </a:p>
          <a:p>
            <a:pPr algn="ctr"/>
            <a:r>
              <a:rPr sz="1000">
                <a:solidFill>
                  <a:srgbClr val="BFBFBF"/>
                </a:solidFill>
                <a:latin typeface="Calibri"/>
              </a:rPr>
              <a:t>end-to-end system, live audio,</a:t>
            </a:r>
            <a:br/>
            <a:r>
              <a:rPr sz="1000">
                <a:solidFill>
                  <a:srgbClr val="6B7280"/>
                </a:solidFill>
                <a:latin typeface="Calibri"/>
              </a:rPr>
              <a:t>real pretrained models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14616" y="1965960"/>
            <a:ext cx="2011680" cy="1143000"/>
          </a:xfrm>
          <a:prstGeom prst="roundRect">
            <a:avLst>
              <a:gd name="adj" fmla="val 12000"/>
            </a:avLst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500" b="1">
                <a:solidFill>
                  <a:srgbClr val="6B7280"/>
                </a:solidFill>
                <a:latin typeface="Calibri"/>
              </a:rPr>
              <a:t>TRL 7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pilot on live call traffic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90888" y="1965960"/>
            <a:ext cx="2011680" cy="1143000"/>
          </a:xfrm>
          <a:prstGeom prst="roundRect">
            <a:avLst>
              <a:gd name="adj" fmla="val 12000"/>
            </a:avLst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500" b="1">
                <a:solidFill>
                  <a:srgbClr val="6B7280"/>
                </a:solidFill>
                <a:latin typeface="Calibri"/>
              </a:rPr>
              <a:t>TRL 8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hardened telephony integration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566160"/>
            <a:ext cx="1082009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—  Working system, not slides.</a:t>
            </a:r>
            <a:r>
              <a:rPr sz="1500">
                <a:solidFill>
                  <a:srgbClr val="6B7280"/>
                </a:solidFill>
                <a:latin typeface="Calibri"/>
              </a:rPr>
              <a:t>  Live browser-mic capture → GPU ensemble → advisory dashboard, running end-to-end today at p95 166 ms per chunk.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—  Engineering rigor.</a:t>
            </a:r>
            <a:r>
              <a:rPr sz="1500">
                <a:solidFill>
                  <a:srgbClr val="6B7280"/>
                </a:solidFill>
                <a:latin typeface="Calibri"/>
              </a:rPr>
              <a:t>  94 automated tests including acceptance gates (false-alert rate, detection-time, latency); CI-gated; structured audit logging with trace IDs.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—  Validated against real attacks.</a:t>
            </a:r>
            <a:r>
              <a:rPr sz="1500">
                <a:solidFill>
                  <a:srgbClr val="6B7280"/>
                </a:solidFill>
                <a:latin typeface="Calibri"/>
              </a:rPr>
              <a:t>  Detected a genuine ElevenLabs clone of a real voice — the exact attack in the problem statement.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Calibri"/>
              </a:rPr>
              <a:t>VoiceShield · Team Jigyasa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48695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6B7280"/>
                </a:solidFill>
                <a:latin typeface="Calibri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8200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1A"/>
                </a:solidFill>
                <a:latin typeface="Calibri Light"/>
              </a:rPr>
              <a:t>From prototype to production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502920" cy="330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651760"/>
            <a:ext cx="10820095" cy="25400"/>
          </a:xfrm>
          <a:prstGeom prst="rect">
            <a:avLst/>
          </a:prstGeom>
          <a:solidFill>
            <a:srgbClr val="D9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85800" y="2587752"/>
            <a:ext cx="155448" cy="15544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084832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0392B"/>
                </a:solidFill>
                <a:latin typeface="Calibri"/>
              </a:rPr>
              <a:t>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944368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1A1A"/>
                </a:solidFill>
                <a:latin typeface="Calibri"/>
              </a:rPr>
              <a:t>Hackathon prototype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64992"/>
            <a:ext cx="2651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B7280"/>
                </a:solidFill>
                <a:latin typeface="Calibri"/>
              </a:rPr>
              <a:t>cascade ensemble · multilingual · evidence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6B7280"/>
                </a:solidFill>
                <a:latin typeface="Calibri"/>
              </a:rPr>
              <a:t>export · live dashboard</a:t>
            </a:r>
          </a:p>
        </p:txBody>
      </p:sp>
      <p:sp>
        <p:nvSpPr>
          <p:cNvPr id="10" name="Oval 9"/>
          <p:cNvSpPr/>
          <p:nvPr/>
        </p:nvSpPr>
        <p:spPr>
          <a:xfrm>
            <a:off x="3390823" y="2587752"/>
            <a:ext cx="155448" cy="15544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90823" y="2084832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6B7280"/>
                </a:solidFill>
                <a:latin typeface="Calibri"/>
              </a:rPr>
              <a:t>+3 MONTHS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90823" y="2944368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1A1A"/>
                </a:solidFill>
                <a:latin typeface="Calibri"/>
              </a:rPr>
              <a:t>Bank pilot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90823" y="3364992"/>
            <a:ext cx="2651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B7280"/>
                </a:solidFill>
                <a:latin typeface="Calibri"/>
              </a:rPr>
              <a:t>SIP/RTP tap on live traffic · replay via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6B7280"/>
                </a:solidFill>
                <a:latin typeface="Calibri"/>
              </a:rPr>
              <a:t>challenge-response + replay-aware training</a:t>
            </a:r>
          </a:p>
        </p:txBody>
      </p:sp>
      <p:sp>
        <p:nvSpPr>
          <p:cNvPr id="14" name="Oval 13"/>
          <p:cNvSpPr/>
          <p:nvPr/>
        </p:nvSpPr>
        <p:spPr>
          <a:xfrm>
            <a:off x="6095846" y="2587752"/>
            <a:ext cx="155448" cy="15544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5846" y="2084832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6B7280"/>
                </a:solidFill>
                <a:latin typeface="Calibri"/>
              </a:rPr>
              <a:t>+6 MONTHS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5846" y="2944368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1A1A"/>
                </a:solidFill>
                <a:latin typeface="Calibri"/>
              </a:rPr>
              <a:t>India-ready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5846" y="3364992"/>
            <a:ext cx="2651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B7280"/>
                </a:solidFill>
                <a:latin typeface="Calibri"/>
              </a:rPr>
              <a:t>Hindi + regional-language robustness ·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6B7280"/>
                </a:solidFill>
                <a:latin typeface="Calibri"/>
              </a:rPr>
              <a:t>multilingual anti-spoof model · agent rollout</a:t>
            </a:r>
          </a:p>
        </p:txBody>
      </p:sp>
      <p:sp>
        <p:nvSpPr>
          <p:cNvPr id="18" name="Oval 17"/>
          <p:cNvSpPr/>
          <p:nvPr/>
        </p:nvSpPr>
        <p:spPr>
          <a:xfrm>
            <a:off x="8800869" y="2587752"/>
            <a:ext cx="155448" cy="15544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00869" y="2084832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6B7280"/>
                </a:solidFill>
                <a:latin typeface="Calibri"/>
              </a:rPr>
              <a:t>+12 MONTHS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00869" y="2944368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1A1A"/>
                </a:solidFill>
                <a:latin typeface="Calibri"/>
              </a:rPr>
              <a:t>Network effect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00869" y="3364992"/>
            <a:ext cx="2651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B7280"/>
                </a:solidFill>
                <a:latin typeface="Calibri"/>
              </a:rPr>
              <a:t>cross-branch fraud analytics · voice-clone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6B7280"/>
                </a:solidFill>
                <a:latin typeface="Calibri"/>
              </a:rPr>
              <a:t>threat intel shared across PSBs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937760"/>
            <a:ext cx="108200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7280"/>
                </a:solidFill>
                <a:latin typeface="Calibri"/>
              </a:rPr>
              <a:t>Deliberate scope: detection accuracy and honest calibration first, telephony plumbing second. The API seams (versioned /v1 → /v2) mean each phase ships without breaking the last.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Calibri"/>
              </a:rPr>
              <a:t>VoiceShield · Team Jigyasa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48695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1A1A1A"/>
                </a:solidFill>
                <a:latin typeface="Calibri Light"/>
              </a:rPr>
              <a:t>The audio is the only evidence</a:t>
            </a:r>
          </a:p>
          <a:p>
            <a:pPr algn="l">
              <a:lnSpc>
                <a:spcPct val="105000"/>
              </a:lnSpc>
            </a:pPr>
            <a:r>
              <a:rPr sz="4000" b="1">
                <a:solidFill>
                  <a:srgbClr val="1A1A1A"/>
                </a:solidFill>
                <a:latin typeface="Calibri Light"/>
              </a:rPr>
              <a:t>that cannot lie. We read it.</a:t>
            </a:r>
          </a:p>
        </p:txBody>
      </p:sp>
      <p:sp>
        <p:nvSpPr>
          <p:cNvPr id="3" name="Rectangle 2"/>
          <p:cNvSpPr/>
          <p:nvPr/>
        </p:nvSpPr>
        <p:spPr>
          <a:xfrm>
            <a:off x="704088" y="3977639"/>
            <a:ext cx="822960" cy="381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2062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6B7280"/>
                </a:solidFill>
                <a:latin typeface="Calibri"/>
              </a:rPr>
              <a:t>VoiceShield — Team Jigyasa  ·  Questions welcome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Calibri"/>
              </a:rPr>
              <a:t>VoiceShield · Team Jigyasa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8695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