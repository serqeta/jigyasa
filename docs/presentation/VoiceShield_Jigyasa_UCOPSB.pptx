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148840"/>
            <a:ext cx="9144000" cy="1097280"/>
          </a:xfrm>
          <a:prstGeom prst="rect">
            <a:avLst/>
          </a:prstGeom>
          <a:noFill/>
        </p:spPr>
        <p:txBody>
          <a:bodyPr wrap="square" anchor="t">
            <a:spAutoFit/>
          </a:bodyPr>
          <a:lstStyle/>
          <a:p>
            <a:pPr algn="l">
              <a:lnSpc>
                <a:spcPct val="100000"/>
              </a:lnSpc>
            </a:pPr>
            <a:r>
              <a:rPr sz="5400" b="1">
                <a:solidFill>
                  <a:srgbClr val="1A1A1A"/>
                </a:solidFill>
                <a:latin typeface="Calibri Light"/>
              </a:rPr>
              <a:t>VoiceShield</a:t>
            </a:r>
          </a:p>
        </p:txBody>
      </p:sp>
      <p:sp>
        <p:nvSpPr>
          <p:cNvPr id="3" name="Rectangle 2"/>
          <p:cNvSpPr/>
          <p:nvPr/>
        </p:nvSpPr>
        <p:spPr>
          <a:xfrm>
            <a:off x="704088" y="3063240"/>
            <a:ext cx="822960" cy="381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91840"/>
            <a:ext cx="10058400" cy="548640"/>
          </a:xfrm>
          <a:prstGeom prst="rect">
            <a:avLst/>
          </a:prstGeom>
          <a:noFill/>
        </p:spPr>
        <p:txBody>
          <a:bodyPr wrap="square" anchor="t">
            <a:spAutoFit/>
          </a:bodyPr>
          <a:lstStyle/>
          <a:p>
            <a:pPr algn="l">
              <a:lnSpc>
                <a:spcPct val="100000"/>
              </a:lnSpc>
            </a:pPr>
            <a:r>
              <a:rPr sz="2000" b="0">
                <a:solidFill>
                  <a:srgbClr val="6B7280"/>
                </a:solidFill>
                <a:latin typeface="Calibri"/>
              </a:rPr>
              <a:t>Real-time audio forensics that flags cloned voices on live calls — within 10 seconds.</a:t>
            </a:r>
          </a:p>
        </p:txBody>
      </p:sp>
      <p:sp>
        <p:nvSpPr>
          <p:cNvPr id="5" name="TextBox 4"/>
          <p:cNvSpPr txBox="1"/>
          <p:nvPr/>
        </p:nvSpPr>
        <p:spPr>
          <a:xfrm>
            <a:off x="685800" y="5760720"/>
            <a:ext cx="10058400" cy="731520"/>
          </a:xfrm>
          <a:prstGeom prst="rect">
            <a:avLst/>
          </a:prstGeom>
          <a:noFill/>
        </p:spPr>
        <p:txBody>
          <a:bodyPr wrap="square" anchor="t">
            <a:spAutoFit/>
          </a:bodyPr>
          <a:lstStyle/>
          <a:p>
            <a:pPr algn="l">
              <a:lnSpc>
                <a:spcPct val="100000"/>
              </a:lnSpc>
            </a:pPr>
            <a:r>
              <a:rPr sz="1300" b="0">
                <a:solidFill>
                  <a:srgbClr val="6B7280"/>
                </a:solidFill>
                <a:latin typeface="Calibri"/>
              </a:rPr>
              <a:t>Team Jigyasa  ·  Amit Anand · Suraj Harlekar · Aditya Dubey</a:t>
            </a:r>
          </a:p>
          <a:p>
            <a:pPr algn="l">
              <a:lnSpc>
                <a:spcPct val="100000"/>
              </a:lnSpc>
            </a:pPr>
            <a:r>
              <a:rPr sz="1300" b="0">
                <a:solidFill>
                  <a:srgbClr val="6B7280"/>
                </a:solidFill>
                <a:latin typeface="Calibri"/>
              </a:rPr>
              <a:t>UCO PSB Hackathon · Problem Statement 2 · Audio Forensics for Voice Security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THE PROBLEM</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A voice is no longer proof of identity</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920240"/>
            <a:ext cx="3383280" cy="2103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94560"/>
            <a:ext cx="2834640" cy="914400"/>
          </a:xfrm>
          <a:prstGeom prst="rect">
            <a:avLst/>
          </a:prstGeom>
          <a:noFill/>
        </p:spPr>
        <p:txBody>
          <a:bodyPr wrap="square" anchor="t">
            <a:spAutoFit/>
          </a:bodyPr>
          <a:lstStyle/>
          <a:p>
            <a:pPr algn="l">
              <a:lnSpc>
                <a:spcPct val="100000"/>
              </a:lnSpc>
            </a:pPr>
            <a:r>
              <a:rPr sz="4400" b="1">
                <a:solidFill>
                  <a:srgbClr val="1A1A1A"/>
                </a:solidFill>
                <a:latin typeface="Calibri Light"/>
              </a:rPr>
              <a:t>3 sec</a:t>
            </a:r>
          </a:p>
        </p:txBody>
      </p:sp>
      <p:sp>
        <p:nvSpPr>
          <p:cNvPr id="7" name="TextBox 6"/>
          <p:cNvSpPr txBox="1"/>
          <p:nvPr/>
        </p:nvSpPr>
        <p:spPr>
          <a:xfrm>
            <a:off x="960120" y="3108960"/>
            <a:ext cx="2834640" cy="822960"/>
          </a:xfrm>
          <a:prstGeom prst="rect">
            <a:avLst/>
          </a:prstGeom>
          <a:noFill/>
        </p:spPr>
        <p:txBody>
          <a:bodyPr wrap="square" anchor="t">
            <a:spAutoFit/>
          </a:bodyPr>
          <a:lstStyle/>
          <a:p>
            <a:pPr algn="l">
              <a:lnSpc>
                <a:spcPct val="100000"/>
              </a:lnSpc>
            </a:pPr>
            <a:r>
              <a:rPr sz="1400" b="0">
                <a:solidFill>
                  <a:srgbClr val="6B7280"/>
                </a:solidFill>
                <a:latin typeface="Calibri"/>
              </a:rPr>
              <a:t>of audio is enough to clone a voice with ~85% similarity</a:t>
            </a:r>
          </a:p>
        </p:txBody>
      </p:sp>
      <p:sp>
        <p:nvSpPr>
          <p:cNvPr id="8" name="Rounded Rectangle 7"/>
          <p:cNvSpPr/>
          <p:nvPr/>
        </p:nvSpPr>
        <p:spPr>
          <a:xfrm>
            <a:off x="4389120" y="1920240"/>
            <a:ext cx="3383280" cy="2103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194560"/>
            <a:ext cx="2834640" cy="914400"/>
          </a:xfrm>
          <a:prstGeom prst="rect">
            <a:avLst/>
          </a:prstGeom>
          <a:noFill/>
        </p:spPr>
        <p:txBody>
          <a:bodyPr wrap="square" anchor="t">
            <a:spAutoFit/>
          </a:bodyPr>
          <a:lstStyle/>
          <a:p>
            <a:pPr algn="l">
              <a:lnSpc>
                <a:spcPct val="100000"/>
              </a:lnSpc>
            </a:pPr>
            <a:r>
              <a:rPr sz="4400" b="1">
                <a:solidFill>
                  <a:srgbClr val="1A1A1A"/>
                </a:solidFill>
                <a:latin typeface="Calibri Light"/>
              </a:rPr>
              <a:t>+442%</a:t>
            </a:r>
          </a:p>
        </p:txBody>
      </p:sp>
      <p:sp>
        <p:nvSpPr>
          <p:cNvPr id="10" name="TextBox 9"/>
          <p:cNvSpPr txBox="1"/>
          <p:nvPr/>
        </p:nvSpPr>
        <p:spPr>
          <a:xfrm>
            <a:off x="4663440" y="3108960"/>
            <a:ext cx="2834640" cy="822960"/>
          </a:xfrm>
          <a:prstGeom prst="rect">
            <a:avLst/>
          </a:prstGeom>
          <a:noFill/>
        </p:spPr>
        <p:txBody>
          <a:bodyPr wrap="square" anchor="t">
            <a:spAutoFit/>
          </a:bodyPr>
          <a:lstStyle/>
          <a:p>
            <a:pPr algn="l">
              <a:lnSpc>
                <a:spcPct val="100000"/>
              </a:lnSpc>
            </a:pPr>
            <a:r>
              <a:rPr sz="1400" b="0">
                <a:solidFill>
                  <a:srgbClr val="6B7280"/>
                </a:solidFill>
                <a:latin typeface="Calibri"/>
              </a:rPr>
              <a:t>surge in voice-phishing attacks in 2025, driven by AI</a:t>
            </a:r>
          </a:p>
        </p:txBody>
      </p:sp>
      <p:sp>
        <p:nvSpPr>
          <p:cNvPr id="11" name="Rounded Rectangle 10"/>
          <p:cNvSpPr/>
          <p:nvPr/>
        </p:nvSpPr>
        <p:spPr>
          <a:xfrm>
            <a:off x="8092440" y="1920240"/>
            <a:ext cx="3383280" cy="2103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194560"/>
            <a:ext cx="2834640" cy="914400"/>
          </a:xfrm>
          <a:prstGeom prst="rect">
            <a:avLst/>
          </a:prstGeom>
          <a:noFill/>
        </p:spPr>
        <p:txBody>
          <a:bodyPr wrap="square" anchor="t">
            <a:spAutoFit/>
          </a:bodyPr>
          <a:lstStyle/>
          <a:p>
            <a:pPr algn="l">
              <a:lnSpc>
                <a:spcPct val="100000"/>
              </a:lnSpc>
            </a:pPr>
            <a:r>
              <a:rPr sz="4400" b="1">
                <a:solidFill>
                  <a:srgbClr val="C0392B"/>
                </a:solidFill>
                <a:latin typeface="Calibri Light"/>
              </a:rPr>
              <a:t>$40 B</a:t>
            </a:r>
          </a:p>
        </p:txBody>
      </p:sp>
      <p:sp>
        <p:nvSpPr>
          <p:cNvPr id="13" name="TextBox 12"/>
          <p:cNvSpPr txBox="1"/>
          <p:nvPr/>
        </p:nvSpPr>
        <p:spPr>
          <a:xfrm>
            <a:off x="8366760" y="3108960"/>
            <a:ext cx="2834640" cy="822960"/>
          </a:xfrm>
          <a:prstGeom prst="rect">
            <a:avLst/>
          </a:prstGeom>
          <a:noFill/>
        </p:spPr>
        <p:txBody>
          <a:bodyPr wrap="square" anchor="t">
            <a:spAutoFit/>
          </a:bodyPr>
          <a:lstStyle/>
          <a:p>
            <a:pPr algn="l">
              <a:lnSpc>
                <a:spcPct val="100000"/>
              </a:lnSpc>
            </a:pPr>
            <a:r>
              <a:rPr sz="1400" b="0">
                <a:solidFill>
                  <a:srgbClr val="6B7280"/>
                </a:solidFill>
                <a:latin typeface="Calibri"/>
              </a:rPr>
              <a:t>projected annual US losses to AI-enabled fraud by 2027 (Deloitte)</a:t>
            </a:r>
          </a:p>
        </p:txBody>
      </p:sp>
      <p:sp>
        <p:nvSpPr>
          <p:cNvPr id="14" name="TextBox 13"/>
          <p:cNvSpPr txBox="1"/>
          <p:nvPr/>
        </p:nvSpPr>
        <p:spPr>
          <a:xfrm>
            <a:off x="685800" y="4572000"/>
            <a:ext cx="10820095" cy="1280160"/>
          </a:xfrm>
          <a:prstGeom prst="rect">
            <a:avLst/>
          </a:prstGeom>
          <a:noFill/>
        </p:spPr>
        <p:txBody>
          <a:bodyPr wrap="square" anchor="t">
            <a:spAutoFit/>
          </a:bodyPr>
          <a:lstStyle/>
          <a:p>
            <a:pPr algn="l">
              <a:lnSpc>
                <a:spcPct val="115000"/>
              </a:lnSpc>
            </a:pPr>
            <a:r>
              <a:rPr sz="1700" b="0">
                <a:solidFill>
                  <a:srgbClr val="1A1A1A"/>
                </a:solidFill>
                <a:latin typeface="Calibri"/>
              </a:rPr>
              <a:t>Fraudsters clone a customer's voice to defeat voice-biometric checks and to socially engineer call-center agents into moving money.</a:t>
            </a:r>
          </a:p>
          <a:p>
            <a:pPr algn="l">
              <a:lnSpc>
                <a:spcPct val="115000"/>
              </a:lnSpc>
            </a:pPr>
            <a:r>
              <a:rPr sz="1700" b="0">
                <a:solidFill>
                  <a:srgbClr val="1A1A1A"/>
                </a:solidFill>
                <a:latin typeface="Calibri"/>
              </a:rPr>
              <a:t>Today's defenses — caller ID, phone-number metadata — are trivially spoofed. The audio itself is the only evidence that cannot lie.</a:t>
            </a:r>
          </a:p>
        </p:txBody>
      </p:sp>
      <p:sp>
        <p:nvSpPr>
          <p:cNvPr id="15" name="TextBox 14"/>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6" name="TextBox 15"/>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OUR SOLUTION</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Listening for synthesis, not identity</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2286000"/>
            <a:ext cx="2286000" cy="137160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1A1A1A"/>
                </a:solidFill>
                <a:latin typeface="Calibri"/>
              </a:rPr>
              <a:t>Live call audio</a:t>
            </a:r>
          </a:p>
          <a:p>
            <a:pPr algn="ctr"/>
            <a:r>
              <a:rPr sz="1000">
                <a:solidFill>
                  <a:srgbClr val="6B7280"/>
                </a:solidFill>
                <a:latin typeface="Calibri"/>
              </a:rPr>
              <a:t>500 ms chunks · 16 kHz</a:t>
            </a:r>
          </a:p>
        </p:txBody>
      </p:sp>
      <p:sp>
        <p:nvSpPr>
          <p:cNvPr id="6" name="Right Arrow 5"/>
          <p:cNvSpPr/>
          <p:nvPr/>
        </p:nvSpPr>
        <p:spPr>
          <a:xfrm>
            <a:off x="3044952" y="2898648"/>
            <a:ext cx="502920"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11880" y="2286000"/>
            <a:ext cx="3017520" cy="13716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latin typeface="Calibri"/>
              </a:rPr>
              <a:t>VoiceShield pipeline</a:t>
            </a:r>
          </a:p>
          <a:p>
            <a:pPr algn="ctr"/>
            <a:r>
              <a:rPr sz="1000">
                <a:solidFill>
                  <a:srgbClr val="BFBFBF"/>
                </a:solidFill>
                <a:latin typeface="Calibri"/>
              </a:rPr>
              <a:t>forensic features · model ensemble · risk fusion</a:t>
            </a:r>
          </a:p>
        </p:txBody>
      </p:sp>
      <p:sp>
        <p:nvSpPr>
          <p:cNvPr id="8" name="Right Arrow 7"/>
          <p:cNvSpPr/>
          <p:nvPr/>
        </p:nvSpPr>
        <p:spPr>
          <a:xfrm>
            <a:off x="6702552" y="2898648"/>
            <a:ext cx="502920"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269480" y="2286000"/>
            <a:ext cx="2377440" cy="137160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1A1A1A"/>
                </a:solidFill>
                <a:latin typeface="Calibri"/>
              </a:rPr>
              <a:t>Agent advisory</a:t>
            </a:r>
          </a:p>
          <a:p>
            <a:pPr algn="ctr"/>
            <a:r>
              <a:rPr sz="1000">
                <a:solidFill>
                  <a:srgbClr val="6B7280"/>
                </a:solidFill>
                <a:latin typeface="Calibri"/>
              </a:rPr>
              <a:t>verdict ≤ 10 s of audio</a:t>
            </a:r>
          </a:p>
        </p:txBody>
      </p:sp>
      <p:sp>
        <p:nvSpPr>
          <p:cNvPr id="10" name="Rounded Rectangle 9"/>
          <p:cNvSpPr/>
          <p:nvPr/>
        </p:nvSpPr>
        <p:spPr>
          <a:xfrm>
            <a:off x="9921240" y="2313432"/>
            <a:ext cx="1783080" cy="283464"/>
          </a:xfrm>
          <a:prstGeom prst="roundRect">
            <a:avLst>
              <a:gd name="adj" fmla="val 12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a:solidFill>
                  <a:srgbClr val="FFFFFF"/>
                </a:solidFill>
                <a:latin typeface="Calibri"/>
              </a:rPr>
              <a:t>GREEN · continue</a:t>
            </a:r>
          </a:p>
        </p:txBody>
      </p:sp>
      <p:sp>
        <p:nvSpPr>
          <p:cNvPr id="11" name="Rounded Rectangle 10"/>
          <p:cNvSpPr/>
          <p:nvPr/>
        </p:nvSpPr>
        <p:spPr>
          <a:xfrm>
            <a:off x="9921240" y="2660904"/>
            <a:ext cx="1783080" cy="283464"/>
          </a:xfrm>
          <a:prstGeom prst="roundRect">
            <a:avLst>
              <a:gd name="adj" fmla="val 12000"/>
            </a:avLst>
          </a:prstGeom>
          <a:solidFill>
            <a:srgbClr val="B4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a:solidFill>
                  <a:srgbClr val="FFFFFF"/>
                </a:solidFill>
                <a:latin typeface="Calibri"/>
              </a:rPr>
              <a:t>AMBER · escalate</a:t>
            </a:r>
          </a:p>
        </p:txBody>
      </p:sp>
      <p:sp>
        <p:nvSpPr>
          <p:cNvPr id="12" name="Rounded Rectangle 11"/>
          <p:cNvSpPr/>
          <p:nvPr/>
        </p:nvSpPr>
        <p:spPr>
          <a:xfrm>
            <a:off x="9921240" y="3008376"/>
            <a:ext cx="1783080" cy="283464"/>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a:solidFill>
                  <a:srgbClr val="FFFFFF"/>
                </a:solidFill>
                <a:latin typeface="Calibri"/>
              </a:rPr>
              <a:t>RED · terminate</a:t>
            </a:r>
          </a:p>
        </p:txBody>
      </p:sp>
      <p:sp>
        <p:nvSpPr>
          <p:cNvPr id="13" name="Rounded Rectangle 12"/>
          <p:cNvSpPr/>
          <p:nvPr/>
        </p:nvSpPr>
        <p:spPr>
          <a:xfrm>
            <a:off x="9921240" y="3355848"/>
            <a:ext cx="1783080" cy="283464"/>
          </a:xfrm>
          <a:prstGeom prst="roundRect">
            <a:avLst>
              <a:gd name="adj" fmla="val 12000"/>
            </a:avLst>
          </a:prstGeom>
          <a:solidFill>
            <a:srgbClr val="8A8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a:solidFill>
                  <a:srgbClr val="FFFFFF"/>
                </a:solidFill>
                <a:latin typeface="Calibri"/>
              </a:rPr>
              <a:t>GREY · poor audio</a:t>
            </a:r>
          </a:p>
        </p:txBody>
      </p:sp>
      <p:sp>
        <p:nvSpPr>
          <p:cNvPr id="14" name="TextBox 13"/>
          <p:cNvSpPr txBox="1"/>
          <p:nvPr/>
        </p:nvSpPr>
        <p:spPr>
          <a:xfrm>
            <a:off x="685800" y="4297680"/>
            <a:ext cx="10820095" cy="1737360"/>
          </a:xfrm>
          <a:prstGeom prst="rect">
            <a:avLst/>
          </a:prstGeom>
          <a:noFill/>
        </p:spPr>
        <p:txBody>
          <a:bodyPr wrap="square">
            <a:spAutoFit/>
          </a:bodyPr>
          <a:lstStyle/>
          <a:p>
            <a:pPr>
              <a:lnSpc>
                <a:spcPct val="105000"/>
              </a:lnSpc>
              <a:spcAft>
                <a:spcPts val="600"/>
              </a:spcAft>
            </a:pPr>
            <a:r>
              <a:rPr sz="1600" b="1">
                <a:solidFill>
                  <a:srgbClr val="1A1A1A"/>
                </a:solidFill>
                <a:latin typeface="Calibri"/>
              </a:rPr>
              <a:t>—  Advisory, not judge.</a:t>
            </a:r>
            <a:r>
              <a:rPr sz="1600">
                <a:solidFill>
                  <a:srgbClr val="6B7280"/>
                </a:solidFill>
                <a:latin typeface="Calibri"/>
              </a:rPr>
              <a:t>  The agent stays in control; VoiceShield names the evidence behind every alert.</a:t>
            </a:r>
          </a:p>
          <a:p>
            <a:pPr>
              <a:lnSpc>
                <a:spcPct val="105000"/>
              </a:lnSpc>
              <a:spcAft>
                <a:spcPts val="600"/>
              </a:spcAft>
            </a:pPr>
            <a:r>
              <a:rPr sz="1600" b="1">
                <a:solidFill>
                  <a:srgbClr val="1A1A1A"/>
                </a:solidFill>
                <a:latin typeface="Calibri"/>
              </a:rPr>
              <a:t>—  Privacy by construction.</a:t>
            </a:r>
            <a:r>
              <a:rPr sz="1600">
                <a:solidFill>
                  <a:srgbClr val="6B7280"/>
                </a:solidFill>
                <a:latin typeface="Calibri"/>
              </a:rPr>
              <a:t>  A 10-second in-memory rolling buffer — no call recording ever touches disk.</a:t>
            </a:r>
          </a:p>
          <a:p>
            <a:pPr>
              <a:lnSpc>
                <a:spcPct val="105000"/>
              </a:lnSpc>
              <a:spcAft>
                <a:spcPts val="600"/>
              </a:spcAft>
            </a:pPr>
            <a:r>
              <a:rPr sz="1600" b="1">
                <a:solidFill>
                  <a:srgbClr val="1A1A1A"/>
                </a:solidFill>
                <a:latin typeface="Calibri"/>
              </a:rPr>
              <a:t>—  Explainable.</a:t>
            </a:r>
            <a:r>
              <a:rPr sz="1600">
                <a:solidFill>
                  <a:srgbClr val="6B7280"/>
                </a:solidFill>
                <a:latin typeface="Calibri"/>
              </a:rPr>
              <a:t>  Each alert cites the artifact: phase discontinuity, over-smooth pitch, vocoder band energy.</a:t>
            </a:r>
          </a:p>
        </p:txBody>
      </p:sp>
      <p:sp>
        <p:nvSpPr>
          <p:cNvPr id="15" name="TextBox 14"/>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6" name="TextBox 15"/>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HOW IT WORKS</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Two-stage cascade: cheap screening, deep confirmation</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965960"/>
            <a:ext cx="1965960" cy="960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A1A1A"/>
                </a:solidFill>
                <a:latin typeface="Calibri"/>
              </a:rPr>
              <a:t>Rolling buffer</a:t>
            </a:r>
          </a:p>
          <a:p>
            <a:pPr algn="ctr"/>
            <a:r>
              <a:rPr sz="1000">
                <a:solidFill>
                  <a:srgbClr val="6B7280"/>
                </a:solidFill>
                <a:latin typeface="Calibri"/>
              </a:rPr>
              <a:t>10 s in-memory</a:t>
            </a:r>
          </a:p>
        </p:txBody>
      </p:sp>
      <p:sp>
        <p:nvSpPr>
          <p:cNvPr id="6" name="Right Arrow 5"/>
          <p:cNvSpPr/>
          <p:nvPr/>
        </p:nvSpPr>
        <p:spPr>
          <a:xfrm>
            <a:off x="2688336" y="2377440"/>
            <a:ext cx="310896"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35808" y="1965960"/>
            <a:ext cx="1965960" cy="960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A1A1A"/>
                </a:solidFill>
                <a:latin typeface="Calibri"/>
              </a:rPr>
              <a:t>SNR + VAD gate</a:t>
            </a:r>
          </a:p>
          <a:p>
            <a:pPr algn="ctr"/>
            <a:r>
              <a:rPr sz="1000">
                <a:solidFill>
                  <a:srgbClr val="6B7280"/>
                </a:solidFill>
                <a:latin typeface="Calibri"/>
              </a:rPr>
              <a:t>poor audio → GREY</a:t>
            </a:r>
          </a:p>
        </p:txBody>
      </p:sp>
      <p:sp>
        <p:nvSpPr>
          <p:cNvPr id="8" name="Right Arrow 7"/>
          <p:cNvSpPr/>
          <p:nvPr/>
        </p:nvSpPr>
        <p:spPr>
          <a:xfrm>
            <a:off x="5038344" y="2377440"/>
            <a:ext cx="310896"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385816" y="1965960"/>
            <a:ext cx="1965960" cy="960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A1A1A"/>
                </a:solidFill>
                <a:latin typeface="Calibri"/>
              </a:rPr>
              <a:t>Forensic features</a:t>
            </a:r>
          </a:p>
          <a:p>
            <a:pPr algn="ctr"/>
            <a:r>
              <a:rPr sz="1000">
                <a:solidFill>
                  <a:srgbClr val="6B7280"/>
                </a:solidFill>
                <a:latin typeface="Calibri"/>
              </a:rPr>
              <a:t>9 artifact panels</a:t>
            </a:r>
          </a:p>
        </p:txBody>
      </p:sp>
      <p:sp>
        <p:nvSpPr>
          <p:cNvPr id="10" name="Right Arrow 9"/>
          <p:cNvSpPr/>
          <p:nvPr/>
        </p:nvSpPr>
        <p:spPr>
          <a:xfrm>
            <a:off x="7388352" y="2377440"/>
            <a:ext cx="310896"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35824" y="1965960"/>
            <a:ext cx="1965960" cy="96012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A1A1A"/>
                </a:solidFill>
                <a:latin typeface="Calibri"/>
              </a:rPr>
              <a:t>Stage 1 screen</a:t>
            </a:r>
          </a:p>
          <a:p>
            <a:pPr algn="ctr"/>
            <a:r>
              <a:rPr sz="1000">
                <a:solidFill>
                  <a:srgbClr val="6B7280"/>
                </a:solidFill>
                <a:latin typeface="Calibri"/>
              </a:rPr>
              <a:t>AASIST-L, every chunk</a:t>
            </a:r>
          </a:p>
        </p:txBody>
      </p:sp>
      <p:sp>
        <p:nvSpPr>
          <p:cNvPr id="12" name="TextBox 11"/>
          <p:cNvSpPr txBox="1"/>
          <p:nvPr/>
        </p:nvSpPr>
        <p:spPr>
          <a:xfrm>
            <a:off x="7086600" y="3035808"/>
            <a:ext cx="3291840" cy="320040"/>
          </a:xfrm>
          <a:prstGeom prst="rect">
            <a:avLst/>
          </a:prstGeom>
          <a:noFill/>
        </p:spPr>
        <p:txBody>
          <a:bodyPr wrap="square" anchor="t">
            <a:spAutoFit/>
          </a:bodyPr>
          <a:lstStyle/>
          <a:p>
            <a:pPr algn="ctr">
              <a:lnSpc>
                <a:spcPct val="100000"/>
              </a:lnSpc>
            </a:pPr>
            <a:r>
              <a:rPr sz="1100" b="0">
                <a:solidFill>
                  <a:srgbClr val="6B7280"/>
                </a:solidFill>
                <a:latin typeface="Calibri"/>
              </a:rPr>
              <a:t>suspicion ≥ threshold — or periodic probe</a:t>
            </a:r>
          </a:p>
        </p:txBody>
      </p:sp>
      <p:sp>
        <p:nvSpPr>
          <p:cNvPr id="13" name="Down Arrow 12"/>
          <p:cNvSpPr/>
          <p:nvPr/>
        </p:nvSpPr>
        <p:spPr>
          <a:xfrm>
            <a:off x="8549640" y="3310128"/>
            <a:ext cx="292608" cy="402336"/>
          </a:xfrm>
          <a:prstGeom prst="downArrow">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77640" y="3657600"/>
            <a:ext cx="5669280" cy="155448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Stage 2 — deep ensemble</a:t>
            </a:r>
          </a:p>
          <a:p>
            <a:pPr algn="ctr"/>
            <a:r>
              <a:rPr sz="1200">
                <a:solidFill>
                  <a:srgbClr val="BFBFBF"/>
                </a:solidFill>
                <a:latin typeface="Calibri"/>
              </a:rPr>
              <a:t>XLS-R 300M · WavLM · phase/pitch rules — three input representations, two training domains</a:t>
            </a:r>
          </a:p>
        </p:txBody>
      </p:sp>
      <p:sp>
        <p:nvSpPr>
          <p:cNvPr id="15" name="Right Arrow 14"/>
          <p:cNvSpPr/>
          <p:nvPr/>
        </p:nvSpPr>
        <p:spPr>
          <a:xfrm>
            <a:off x="9701784" y="4315968"/>
            <a:ext cx="457200"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195560" y="3657600"/>
            <a:ext cx="1600200" cy="155448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1A1A1A"/>
                </a:solidFill>
                <a:latin typeface="Calibri"/>
              </a:rPr>
              <a:t>Risk fusion</a:t>
            </a:r>
          </a:p>
          <a:p>
            <a:pPr algn="ctr"/>
            <a:r>
              <a:rPr sz="1000">
                <a:solidFill>
                  <a:srgbClr val="6B7280"/>
                </a:solidFill>
                <a:latin typeface="Calibri"/>
              </a:rPr>
              <a:t>weighted + peak evidence · hysteresis</a:t>
            </a:r>
          </a:p>
        </p:txBody>
      </p:sp>
      <p:sp>
        <p:nvSpPr>
          <p:cNvPr id="17" name="TextBox 16"/>
          <p:cNvSpPr txBox="1"/>
          <p:nvPr/>
        </p:nvSpPr>
        <p:spPr>
          <a:xfrm>
            <a:off x="685800" y="5577840"/>
            <a:ext cx="10820095" cy="731520"/>
          </a:xfrm>
          <a:prstGeom prst="rect">
            <a:avLst/>
          </a:prstGeom>
          <a:noFill/>
        </p:spPr>
        <p:txBody>
          <a:bodyPr wrap="square" anchor="t">
            <a:spAutoFit/>
          </a:bodyPr>
          <a:lstStyle/>
          <a:p>
            <a:pPr algn="l">
              <a:lnSpc>
                <a:spcPct val="115000"/>
              </a:lnSpc>
            </a:pPr>
            <a:r>
              <a:rPr sz="1400" b="0">
                <a:solidFill>
                  <a:srgbClr val="6B7280"/>
                </a:solidFill>
                <a:latin typeface="Calibri"/>
              </a:rPr>
              <a:t>Stage 1 screens every 500 ms chunk on-budget; the heavyweight ensemble engages only on suspicion (plus a periodic probe so a weak screen can never hide an attack). GREY always wins: no risk claims without fresh speech.</a:t>
            </a:r>
          </a:p>
        </p:txBody>
      </p:sp>
      <p:sp>
        <p:nvSpPr>
          <p:cNvPr id="18" name="TextBox 17"/>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9" name="TextBox 18"/>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THE ENSEMBLE</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Diversity beats any single detector</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2377440" cy="274320"/>
          </a:xfrm>
          <a:prstGeom prst="rect">
            <a:avLst/>
          </a:prstGeom>
          <a:noFill/>
        </p:spPr>
        <p:txBody>
          <a:bodyPr wrap="square" anchor="t">
            <a:spAutoFit/>
          </a:bodyPr>
          <a:lstStyle/>
          <a:p>
            <a:pPr algn="l">
              <a:lnSpc>
                <a:spcPct val="100000"/>
              </a:lnSpc>
            </a:pPr>
            <a:r>
              <a:rPr sz="1100" b="1">
                <a:solidFill>
                  <a:srgbClr val="6B7280"/>
                </a:solidFill>
                <a:latin typeface="Calibri"/>
              </a:rPr>
              <a:t>MODEL</a:t>
            </a:r>
          </a:p>
        </p:txBody>
      </p:sp>
      <p:sp>
        <p:nvSpPr>
          <p:cNvPr id="6" name="TextBox 5"/>
          <p:cNvSpPr txBox="1"/>
          <p:nvPr/>
        </p:nvSpPr>
        <p:spPr>
          <a:xfrm>
            <a:off x="2697480" y="1828800"/>
            <a:ext cx="2377440" cy="274320"/>
          </a:xfrm>
          <a:prstGeom prst="rect">
            <a:avLst/>
          </a:prstGeom>
          <a:noFill/>
        </p:spPr>
        <p:txBody>
          <a:bodyPr wrap="square" anchor="t">
            <a:spAutoFit/>
          </a:bodyPr>
          <a:lstStyle/>
          <a:p>
            <a:pPr algn="l">
              <a:lnSpc>
                <a:spcPct val="100000"/>
              </a:lnSpc>
            </a:pPr>
            <a:r>
              <a:rPr sz="1100" b="1">
                <a:solidFill>
                  <a:srgbClr val="6B7280"/>
                </a:solidFill>
                <a:latin typeface="Calibri"/>
              </a:rPr>
              <a:t>WHAT IT IS</a:t>
            </a:r>
          </a:p>
        </p:txBody>
      </p:sp>
      <p:sp>
        <p:nvSpPr>
          <p:cNvPr id="7" name="TextBox 6"/>
          <p:cNvSpPr txBox="1"/>
          <p:nvPr/>
        </p:nvSpPr>
        <p:spPr>
          <a:xfrm>
            <a:off x="5440680" y="1828800"/>
            <a:ext cx="2377440" cy="274320"/>
          </a:xfrm>
          <a:prstGeom prst="rect">
            <a:avLst/>
          </a:prstGeom>
          <a:noFill/>
        </p:spPr>
        <p:txBody>
          <a:bodyPr wrap="square" anchor="t">
            <a:spAutoFit/>
          </a:bodyPr>
          <a:lstStyle/>
          <a:p>
            <a:pPr algn="l">
              <a:lnSpc>
                <a:spcPct val="100000"/>
              </a:lnSpc>
            </a:pPr>
            <a:r>
              <a:rPr sz="1100" b="1">
                <a:solidFill>
                  <a:srgbClr val="6B7280"/>
                </a:solidFill>
                <a:latin typeface="Calibri"/>
              </a:rPr>
              <a:t>WHAT IT CATCHES</a:t>
            </a:r>
          </a:p>
        </p:txBody>
      </p:sp>
      <p:sp>
        <p:nvSpPr>
          <p:cNvPr id="8" name="TextBox 7"/>
          <p:cNvSpPr txBox="1"/>
          <p:nvPr/>
        </p:nvSpPr>
        <p:spPr>
          <a:xfrm>
            <a:off x="9189720" y="1828800"/>
            <a:ext cx="2377440" cy="274320"/>
          </a:xfrm>
          <a:prstGeom prst="rect">
            <a:avLst/>
          </a:prstGeom>
          <a:noFill/>
        </p:spPr>
        <p:txBody>
          <a:bodyPr wrap="square" anchor="t">
            <a:spAutoFit/>
          </a:bodyPr>
          <a:lstStyle/>
          <a:p>
            <a:pPr algn="l">
              <a:lnSpc>
                <a:spcPct val="100000"/>
              </a:lnSpc>
            </a:pPr>
            <a:r>
              <a:rPr sz="1100" b="1">
                <a:solidFill>
                  <a:srgbClr val="6B7280"/>
                </a:solidFill>
                <a:latin typeface="Calibri"/>
              </a:rPr>
              <a:t>TRAINED ON</a:t>
            </a:r>
          </a:p>
        </p:txBody>
      </p:sp>
      <p:sp>
        <p:nvSpPr>
          <p:cNvPr id="9" name="Rectangle 8"/>
          <p:cNvSpPr/>
          <p:nvPr/>
        </p:nvSpPr>
        <p:spPr>
          <a:xfrm>
            <a:off x="548640" y="2167128"/>
            <a:ext cx="11094415" cy="566928"/>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12848"/>
            <a:ext cx="1920240" cy="457200"/>
          </a:xfrm>
          <a:prstGeom prst="rect">
            <a:avLst/>
          </a:prstGeom>
          <a:noFill/>
        </p:spPr>
        <p:txBody>
          <a:bodyPr wrap="square" anchor="t">
            <a:spAutoFit/>
          </a:bodyPr>
          <a:lstStyle/>
          <a:p>
            <a:pPr algn="l">
              <a:lnSpc>
                <a:spcPct val="100000"/>
              </a:lnSpc>
            </a:pPr>
            <a:r>
              <a:rPr sz="1400" b="1">
                <a:solidFill>
                  <a:srgbClr val="1A1A1A"/>
                </a:solidFill>
                <a:latin typeface="Calibri"/>
              </a:rPr>
              <a:t>MMS-300M (NII)</a:t>
            </a:r>
          </a:p>
        </p:txBody>
      </p:sp>
      <p:sp>
        <p:nvSpPr>
          <p:cNvPr id="11" name="TextBox 10"/>
          <p:cNvSpPr txBox="1"/>
          <p:nvPr/>
        </p:nvSpPr>
        <p:spPr>
          <a:xfrm>
            <a:off x="2697480" y="2212848"/>
            <a:ext cx="2651760" cy="457200"/>
          </a:xfrm>
          <a:prstGeom prst="rect">
            <a:avLst/>
          </a:prstGeom>
          <a:noFill/>
        </p:spPr>
        <p:txBody>
          <a:bodyPr wrap="square" anchor="t">
            <a:spAutoFit/>
          </a:bodyPr>
          <a:lstStyle/>
          <a:p>
            <a:pPr algn="l">
              <a:lnSpc>
                <a:spcPct val="100000"/>
              </a:lnSpc>
            </a:pPr>
            <a:r>
              <a:rPr sz="1300" b="0">
                <a:solidFill>
                  <a:srgbClr val="6B7280"/>
                </a:solidFill>
                <a:latin typeface="Calibri"/>
              </a:rPr>
              <a:t>multilingual SSL, 74k h + RawBoost</a:t>
            </a:r>
          </a:p>
        </p:txBody>
      </p:sp>
      <p:sp>
        <p:nvSpPr>
          <p:cNvPr id="12" name="TextBox 11"/>
          <p:cNvSpPr txBox="1"/>
          <p:nvPr/>
        </p:nvSpPr>
        <p:spPr>
          <a:xfrm>
            <a:off x="5440680" y="2212848"/>
            <a:ext cx="3657600" cy="457200"/>
          </a:xfrm>
          <a:prstGeom prst="rect">
            <a:avLst/>
          </a:prstGeom>
          <a:noFill/>
        </p:spPr>
        <p:txBody>
          <a:bodyPr wrap="square" anchor="t">
            <a:spAutoFit/>
          </a:bodyPr>
          <a:lstStyle/>
          <a:p>
            <a:pPr algn="l">
              <a:lnSpc>
                <a:spcPct val="100000"/>
              </a:lnSpc>
            </a:pPr>
            <a:r>
              <a:rPr sz="1300" b="0">
                <a:solidFill>
                  <a:srgbClr val="1A1A1A"/>
                </a:solidFill>
                <a:latin typeface="Calibri"/>
              </a:rPr>
              <a:t>all families: GAN vocoders, TTS, VC, wild fakes</a:t>
            </a:r>
          </a:p>
        </p:txBody>
      </p:sp>
      <p:sp>
        <p:nvSpPr>
          <p:cNvPr id="13" name="TextBox 12"/>
          <p:cNvSpPr txBox="1"/>
          <p:nvPr/>
        </p:nvSpPr>
        <p:spPr>
          <a:xfrm>
            <a:off x="9189720" y="2212848"/>
            <a:ext cx="2377440" cy="457200"/>
          </a:xfrm>
          <a:prstGeom prst="rect">
            <a:avLst/>
          </a:prstGeom>
          <a:noFill/>
        </p:spPr>
        <p:txBody>
          <a:bodyPr wrap="square" anchor="t">
            <a:spAutoFit/>
          </a:bodyPr>
          <a:lstStyle/>
          <a:p>
            <a:pPr algn="l">
              <a:lnSpc>
                <a:spcPct val="100000"/>
              </a:lnSpc>
            </a:pPr>
            <a:r>
              <a:rPr sz="1200" b="0">
                <a:solidFill>
                  <a:srgbClr val="6B7280"/>
                </a:solidFill>
                <a:latin typeface="Calibri"/>
              </a:rPr>
              <a:t>benchmark AUC 0.997</a:t>
            </a:r>
          </a:p>
        </p:txBody>
      </p:sp>
      <p:sp>
        <p:nvSpPr>
          <p:cNvPr id="14" name="TextBox 13"/>
          <p:cNvSpPr txBox="1"/>
          <p:nvPr/>
        </p:nvSpPr>
        <p:spPr>
          <a:xfrm>
            <a:off x="685800" y="2798064"/>
            <a:ext cx="1920240" cy="457200"/>
          </a:xfrm>
          <a:prstGeom prst="rect">
            <a:avLst/>
          </a:prstGeom>
          <a:noFill/>
        </p:spPr>
        <p:txBody>
          <a:bodyPr wrap="square" anchor="t">
            <a:spAutoFit/>
          </a:bodyPr>
          <a:lstStyle/>
          <a:p>
            <a:pPr algn="l">
              <a:lnSpc>
                <a:spcPct val="100000"/>
              </a:lnSpc>
            </a:pPr>
            <a:r>
              <a:rPr sz="1400" b="1">
                <a:solidFill>
                  <a:srgbClr val="1A1A1A"/>
                </a:solidFill>
                <a:latin typeface="Calibri"/>
              </a:rPr>
              <a:t>XLS-R 300M</a:t>
            </a:r>
          </a:p>
        </p:txBody>
      </p:sp>
      <p:sp>
        <p:nvSpPr>
          <p:cNvPr id="15" name="TextBox 14"/>
          <p:cNvSpPr txBox="1"/>
          <p:nvPr/>
        </p:nvSpPr>
        <p:spPr>
          <a:xfrm>
            <a:off x="2697480" y="2798064"/>
            <a:ext cx="2651760" cy="457200"/>
          </a:xfrm>
          <a:prstGeom prst="rect">
            <a:avLst/>
          </a:prstGeom>
          <a:noFill/>
        </p:spPr>
        <p:txBody>
          <a:bodyPr wrap="square" anchor="t">
            <a:spAutoFit/>
          </a:bodyPr>
          <a:lstStyle/>
          <a:p>
            <a:pPr algn="l">
              <a:lnSpc>
                <a:spcPct val="100000"/>
              </a:lnSpc>
            </a:pPr>
            <a:r>
              <a:rPr sz="1300" b="0">
                <a:solidFill>
                  <a:srgbClr val="6B7280"/>
                </a:solidFill>
                <a:latin typeface="Calibri"/>
              </a:rPr>
              <a:t>self-supervised speech model</a:t>
            </a:r>
          </a:p>
        </p:txBody>
      </p:sp>
      <p:sp>
        <p:nvSpPr>
          <p:cNvPr id="16" name="TextBox 15"/>
          <p:cNvSpPr txBox="1"/>
          <p:nvPr/>
        </p:nvSpPr>
        <p:spPr>
          <a:xfrm>
            <a:off x="5440680" y="2798064"/>
            <a:ext cx="3657600" cy="457200"/>
          </a:xfrm>
          <a:prstGeom prst="rect">
            <a:avLst/>
          </a:prstGeom>
          <a:noFill/>
        </p:spPr>
        <p:txBody>
          <a:bodyPr wrap="square" anchor="t">
            <a:spAutoFit/>
          </a:bodyPr>
          <a:lstStyle/>
          <a:p>
            <a:pPr algn="l">
              <a:lnSpc>
                <a:spcPct val="100000"/>
              </a:lnSpc>
            </a:pPr>
            <a:r>
              <a:rPr sz="1300" b="0">
                <a:solidFill>
                  <a:srgbClr val="1A1A1A"/>
                </a:solidFill>
                <a:latin typeface="Calibri"/>
              </a:rPr>
              <a:t>vocoder fingerprints in embeddings</a:t>
            </a:r>
          </a:p>
        </p:txBody>
      </p:sp>
      <p:sp>
        <p:nvSpPr>
          <p:cNvPr id="17" name="TextBox 16"/>
          <p:cNvSpPr txBox="1"/>
          <p:nvPr/>
        </p:nvSpPr>
        <p:spPr>
          <a:xfrm>
            <a:off x="9189720" y="2798064"/>
            <a:ext cx="2377440" cy="457200"/>
          </a:xfrm>
          <a:prstGeom prst="rect">
            <a:avLst/>
          </a:prstGeom>
          <a:noFill/>
        </p:spPr>
        <p:txBody>
          <a:bodyPr wrap="square" anchor="t">
            <a:spAutoFit/>
          </a:bodyPr>
          <a:lstStyle/>
          <a:p>
            <a:pPr algn="l">
              <a:lnSpc>
                <a:spcPct val="100000"/>
              </a:lnSpc>
            </a:pPr>
            <a:r>
              <a:rPr sz="1200" b="0">
                <a:solidFill>
                  <a:srgbClr val="6B7280"/>
                </a:solidFill>
                <a:latin typeface="Calibri"/>
              </a:rPr>
              <a:t>benchmark AUC 0.73</a:t>
            </a:r>
          </a:p>
        </p:txBody>
      </p:sp>
      <p:sp>
        <p:nvSpPr>
          <p:cNvPr id="18" name="Rectangle 17"/>
          <p:cNvSpPr/>
          <p:nvPr/>
        </p:nvSpPr>
        <p:spPr>
          <a:xfrm>
            <a:off x="548640" y="3337560"/>
            <a:ext cx="11094415" cy="566928"/>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383280"/>
            <a:ext cx="1920240" cy="457200"/>
          </a:xfrm>
          <a:prstGeom prst="rect">
            <a:avLst/>
          </a:prstGeom>
          <a:noFill/>
        </p:spPr>
        <p:txBody>
          <a:bodyPr wrap="square" anchor="t">
            <a:spAutoFit/>
          </a:bodyPr>
          <a:lstStyle/>
          <a:p>
            <a:pPr algn="l">
              <a:lnSpc>
                <a:spcPct val="100000"/>
              </a:lnSpc>
            </a:pPr>
            <a:r>
              <a:rPr sz="1400" b="1">
                <a:solidFill>
                  <a:srgbClr val="1A1A1A"/>
                </a:solidFill>
                <a:latin typeface="Calibri"/>
              </a:rPr>
              <a:t>WavLM-base</a:t>
            </a:r>
          </a:p>
        </p:txBody>
      </p:sp>
      <p:sp>
        <p:nvSpPr>
          <p:cNvPr id="20" name="TextBox 19"/>
          <p:cNvSpPr txBox="1"/>
          <p:nvPr/>
        </p:nvSpPr>
        <p:spPr>
          <a:xfrm>
            <a:off x="2697480" y="3383280"/>
            <a:ext cx="2651760" cy="457200"/>
          </a:xfrm>
          <a:prstGeom prst="rect">
            <a:avLst/>
          </a:prstGeom>
          <a:noFill/>
        </p:spPr>
        <p:txBody>
          <a:bodyPr wrap="square" anchor="t">
            <a:spAutoFit/>
          </a:bodyPr>
          <a:lstStyle/>
          <a:p>
            <a:pPr algn="l">
              <a:lnSpc>
                <a:spcPct val="100000"/>
              </a:lnSpc>
            </a:pPr>
            <a:r>
              <a:rPr sz="1300" b="0">
                <a:solidFill>
                  <a:srgbClr val="6B7280"/>
                </a:solidFill>
                <a:latin typeface="Calibri"/>
              </a:rPr>
              <a:t>self-supervised, In-the-Wild</a:t>
            </a:r>
          </a:p>
        </p:txBody>
      </p:sp>
      <p:sp>
        <p:nvSpPr>
          <p:cNvPr id="21" name="TextBox 20"/>
          <p:cNvSpPr txBox="1"/>
          <p:nvPr/>
        </p:nvSpPr>
        <p:spPr>
          <a:xfrm>
            <a:off x="5440680" y="3383280"/>
            <a:ext cx="3657600" cy="457200"/>
          </a:xfrm>
          <a:prstGeom prst="rect">
            <a:avLst/>
          </a:prstGeom>
          <a:noFill/>
        </p:spPr>
        <p:txBody>
          <a:bodyPr wrap="square" anchor="t">
            <a:spAutoFit/>
          </a:bodyPr>
          <a:lstStyle/>
          <a:p>
            <a:pPr algn="l">
              <a:lnSpc>
                <a:spcPct val="100000"/>
              </a:lnSpc>
            </a:pPr>
            <a:r>
              <a:rPr sz="1300" b="0">
                <a:solidFill>
                  <a:srgbClr val="1A1A1A"/>
                </a:solidFill>
                <a:latin typeface="Calibri"/>
              </a:rPr>
              <a:t>modern commercial TTS (ElevenLabs-class)</a:t>
            </a:r>
          </a:p>
        </p:txBody>
      </p:sp>
      <p:sp>
        <p:nvSpPr>
          <p:cNvPr id="22" name="TextBox 21"/>
          <p:cNvSpPr txBox="1"/>
          <p:nvPr/>
        </p:nvSpPr>
        <p:spPr>
          <a:xfrm>
            <a:off x="9189720" y="3383280"/>
            <a:ext cx="2377440" cy="457200"/>
          </a:xfrm>
          <a:prstGeom prst="rect">
            <a:avLst/>
          </a:prstGeom>
          <a:noFill/>
        </p:spPr>
        <p:txBody>
          <a:bodyPr wrap="square" anchor="t">
            <a:spAutoFit/>
          </a:bodyPr>
          <a:lstStyle/>
          <a:p>
            <a:pPr algn="l">
              <a:lnSpc>
                <a:spcPct val="100000"/>
              </a:lnSpc>
            </a:pPr>
            <a:r>
              <a:rPr sz="1200" b="0">
                <a:solidFill>
                  <a:srgbClr val="6B7280"/>
                </a:solidFill>
                <a:latin typeface="Calibri"/>
              </a:rPr>
              <a:t>benchmark AUC 0.87</a:t>
            </a:r>
          </a:p>
        </p:txBody>
      </p:sp>
      <p:sp>
        <p:nvSpPr>
          <p:cNvPr id="23" name="TextBox 22"/>
          <p:cNvSpPr txBox="1"/>
          <p:nvPr/>
        </p:nvSpPr>
        <p:spPr>
          <a:xfrm>
            <a:off x="685800" y="3968496"/>
            <a:ext cx="1920240" cy="457200"/>
          </a:xfrm>
          <a:prstGeom prst="rect">
            <a:avLst/>
          </a:prstGeom>
          <a:noFill/>
        </p:spPr>
        <p:txBody>
          <a:bodyPr wrap="square" anchor="t">
            <a:spAutoFit/>
          </a:bodyPr>
          <a:lstStyle/>
          <a:p>
            <a:pPr algn="l">
              <a:lnSpc>
                <a:spcPct val="100000"/>
              </a:lnSpc>
            </a:pPr>
            <a:r>
              <a:rPr sz="1400" b="1">
                <a:solidFill>
                  <a:srgbClr val="1A1A1A"/>
                </a:solidFill>
                <a:latin typeface="Calibri"/>
              </a:rPr>
              <a:t>Phase / Pitch</a:t>
            </a:r>
          </a:p>
        </p:txBody>
      </p:sp>
      <p:sp>
        <p:nvSpPr>
          <p:cNvPr id="24" name="TextBox 23"/>
          <p:cNvSpPr txBox="1"/>
          <p:nvPr/>
        </p:nvSpPr>
        <p:spPr>
          <a:xfrm>
            <a:off x="2697480" y="3968496"/>
            <a:ext cx="2651760" cy="457200"/>
          </a:xfrm>
          <a:prstGeom prst="rect">
            <a:avLst/>
          </a:prstGeom>
          <a:noFill/>
        </p:spPr>
        <p:txBody>
          <a:bodyPr wrap="square" anchor="t">
            <a:spAutoFit/>
          </a:bodyPr>
          <a:lstStyle/>
          <a:p>
            <a:pPr algn="l">
              <a:lnSpc>
                <a:spcPct val="100000"/>
              </a:lnSpc>
            </a:pPr>
            <a:r>
              <a:rPr sz="1300" b="0">
                <a:solidFill>
                  <a:srgbClr val="6B7280"/>
                </a:solidFill>
                <a:latin typeface="Calibri"/>
              </a:rPr>
              <a:t>DSP rules — fully explainable</a:t>
            </a:r>
          </a:p>
        </p:txBody>
      </p:sp>
      <p:sp>
        <p:nvSpPr>
          <p:cNvPr id="25" name="TextBox 24"/>
          <p:cNvSpPr txBox="1"/>
          <p:nvPr/>
        </p:nvSpPr>
        <p:spPr>
          <a:xfrm>
            <a:off x="5440680" y="3968496"/>
            <a:ext cx="3657600" cy="457200"/>
          </a:xfrm>
          <a:prstGeom prst="rect">
            <a:avLst/>
          </a:prstGeom>
          <a:noFill/>
        </p:spPr>
        <p:txBody>
          <a:bodyPr wrap="square" anchor="t">
            <a:spAutoFit/>
          </a:bodyPr>
          <a:lstStyle/>
          <a:p>
            <a:pPr algn="l">
              <a:lnSpc>
                <a:spcPct val="100000"/>
              </a:lnSpc>
            </a:pPr>
            <a:r>
              <a:rPr sz="1300" b="0">
                <a:solidFill>
                  <a:srgbClr val="1A1A1A"/>
                </a:solidFill>
                <a:latin typeface="Calibri"/>
              </a:rPr>
              <a:t>artifact naming for the agent, zero fusion weight</a:t>
            </a:r>
          </a:p>
        </p:txBody>
      </p:sp>
      <p:sp>
        <p:nvSpPr>
          <p:cNvPr id="26" name="TextBox 25"/>
          <p:cNvSpPr txBox="1"/>
          <p:nvPr/>
        </p:nvSpPr>
        <p:spPr>
          <a:xfrm>
            <a:off x="9189720" y="3968496"/>
            <a:ext cx="2377440" cy="457200"/>
          </a:xfrm>
          <a:prstGeom prst="rect">
            <a:avLst/>
          </a:prstGeom>
          <a:noFill/>
        </p:spPr>
        <p:txBody>
          <a:bodyPr wrap="square" anchor="t">
            <a:spAutoFit/>
          </a:bodyPr>
          <a:lstStyle/>
          <a:p>
            <a:pPr algn="l">
              <a:lnSpc>
                <a:spcPct val="100000"/>
              </a:lnSpc>
            </a:pPr>
            <a:r>
              <a:rPr sz="1200" b="0">
                <a:solidFill>
                  <a:srgbClr val="6B7280"/>
                </a:solidFill>
                <a:latin typeface="Calibri"/>
              </a:rPr>
              <a:t>explainability layer</a:t>
            </a:r>
          </a:p>
        </p:txBody>
      </p:sp>
      <p:sp>
        <p:nvSpPr>
          <p:cNvPr id="27" name="TextBox 26"/>
          <p:cNvSpPr txBox="1"/>
          <p:nvPr/>
        </p:nvSpPr>
        <p:spPr>
          <a:xfrm>
            <a:off x="685800" y="4709160"/>
            <a:ext cx="10820095" cy="1097280"/>
          </a:xfrm>
          <a:prstGeom prst="rect">
            <a:avLst/>
          </a:prstGeom>
          <a:noFill/>
        </p:spPr>
        <p:txBody>
          <a:bodyPr wrap="square" anchor="t">
            <a:spAutoFit/>
          </a:bodyPr>
          <a:lstStyle/>
          <a:p>
            <a:pPr algn="l">
              <a:lnSpc>
                <a:spcPct val="115000"/>
              </a:lnSpc>
            </a:pPr>
            <a:r>
              <a:rPr sz="1500" b="0">
                <a:solidFill>
                  <a:srgbClr val="1A1A1A"/>
                </a:solidFill>
                <a:latin typeface="Calibri"/>
              </a:rPr>
              <a:t>Selected by measurement, not marketing: we benchmarked 8 candidate detectors on 496 clips spanning 7 GAN vocoders (WaveFake), 100+ TTS/VC systems (ASVspoof 2021), wild internet deepfakes, and our own generated clones. Fusion weights and alert thresholds come from those measured score distributions.</a:t>
            </a:r>
          </a:p>
        </p:txBody>
      </p:sp>
      <p:sp>
        <p:nvSpPr>
          <p:cNvPr id="28" name="TextBox 27"/>
          <p:cNvSpPr txBox="1"/>
          <p:nvPr/>
        </p:nvSpPr>
        <p:spPr>
          <a:xfrm>
            <a:off x="685800" y="5715000"/>
            <a:ext cx="10820095" cy="548640"/>
          </a:xfrm>
          <a:prstGeom prst="rect">
            <a:avLst/>
          </a:prstGeom>
          <a:noFill/>
        </p:spPr>
        <p:txBody>
          <a:bodyPr wrap="square" anchor="t">
            <a:spAutoFit/>
          </a:bodyPr>
          <a:lstStyle/>
          <a:p>
            <a:pPr algn="l">
              <a:lnSpc>
                <a:spcPct val="110000"/>
              </a:lnSpc>
            </a:pPr>
            <a:r>
              <a:rPr sz="1200" b="0">
                <a:solidFill>
                  <a:srgbClr val="6B7280"/>
                </a:solidFill>
                <a:latin typeface="Calibri"/>
              </a:rPr>
              <a:t>Every component earns its fusion weight through validation. The same benchmark retired our original Stage 1 screener (AASIST-L: AUC 0.33 on real audio) and keeps the replay module at zero weight until calibrated.</a:t>
            </a:r>
          </a:p>
        </p:txBody>
      </p:sp>
      <p:sp>
        <p:nvSpPr>
          <p:cNvPr id="29" name="TextBox 28"/>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30" name="TextBox 29"/>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WHAT MAKES IT DIFFERENT</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Four properties competitors don't combine</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74519"/>
            <a:ext cx="5257800" cy="178308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75687"/>
            <a:ext cx="4709160" cy="365760"/>
          </a:xfrm>
          <a:prstGeom prst="rect">
            <a:avLst/>
          </a:prstGeom>
          <a:noFill/>
        </p:spPr>
        <p:txBody>
          <a:bodyPr wrap="square" anchor="t">
            <a:spAutoFit/>
          </a:bodyPr>
          <a:lstStyle/>
          <a:p>
            <a:pPr algn="l">
              <a:lnSpc>
                <a:spcPct val="100000"/>
              </a:lnSpc>
            </a:pPr>
            <a:r>
              <a:rPr sz="1700" b="1">
                <a:solidFill>
                  <a:srgbClr val="1A1A1A"/>
                </a:solidFill>
                <a:latin typeface="Calibri"/>
              </a:rPr>
              <a:t>Explainable alerts</a:t>
            </a:r>
          </a:p>
        </p:txBody>
      </p:sp>
      <p:sp>
        <p:nvSpPr>
          <p:cNvPr id="7" name="TextBox 6"/>
          <p:cNvSpPr txBox="1"/>
          <p:nvPr/>
        </p:nvSpPr>
        <p:spPr>
          <a:xfrm>
            <a:off x="960120" y="2496311"/>
            <a:ext cx="4709160" cy="1097280"/>
          </a:xfrm>
          <a:prstGeom prst="rect">
            <a:avLst/>
          </a:prstGeom>
          <a:noFill/>
        </p:spPr>
        <p:txBody>
          <a:bodyPr wrap="square" anchor="t">
            <a:spAutoFit/>
          </a:bodyPr>
          <a:lstStyle/>
          <a:p>
            <a:pPr algn="l">
              <a:lnSpc>
                <a:spcPct val="110000"/>
              </a:lnSpc>
            </a:pPr>
            <a:r>
              <a:rPr sz="1300" b="0">
                <a:solidFill>
                  <a:srgbClr val="6B7280"/>
                </a:solidFill>
                <a:latin typeface="Calibri"/>
              </a:rPr>
              <a:t>Every AMBER/RED names its artifact — “phase discontinuity”, “over-smooth pitch”. Agents act on reasons, not scores.</a:t>
            </a:r>
          </a:p>
        </p:txBody>
      </p:sp>
      <p:sp>
        <p:nvSpPr>
          <p:cNvPr id="8" name="Rounded Rectangle 7"/>
          <p:cNvSpPr/>
          <p:nvPr/>
        </p:nvSpPr>
        <p:spPr>
          <a:xfrm>
            <a:off x="6309360" y="1874519"/>
            <a:ext cx="5257800" cy="178308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075687"/>
            <a:ext cx="4709160" cy="365760"/>
          </a:xfrm>
          <a:prstGeom prst="rect">
            <a:avLst/>
          </a:prstGeom>
          <a:noFill/>
        </p:spPr>
        <p:txBody>
          <a:bodyPr wrap="square" anchor="t">
            <a:spAutoFit/>
          </a:bodyPr>
          <a:lstStyle/>
          <a:p>
            <a:pPr algn="l">
              <a:lnSpc>
                <a:spcPct val="100000"/>
              </a:lnSpc>
            </a:pPr>
            <a:r>
              <a:rPr sz="1700" b="1">
                <a:solidFill>
                  <a:srgbClr val="1A1A1A"/>
                </a:solidFill>
                <a:latin typeface="Calibri"/>
              </a:rPr>
              <a:t>Privacy by design</a:t>
            </a:r>
          </a:p>
        </p:txBody>
      </p:sp>
      <p:sp>
        <p:nvSpPr>
          <p:cNvPr id="10" name="TextBox 9"/>
          <p:cNvSpPr txBox="1"/>
          <p:nvPr/>
        </p:nvSpPr>
        <p:spPr>
          <a:xfrm>
            <a:off x="6583680" y="2496311"/>
            <a:ext cx="4709160" cy="1097280"/>
          </a:xfrm>
          <a:prstGeom prst="rect">
            <a:avLst/>
          </a:prstGeom>
          <a:noFill/>
        </p:spPr>
        <p:txBody>
          <a:bodyPr wrap="square" anchor="t">
            <a:spAutoFit/>
          </a:bodyPr>
          <a:lstStyle/>
          <a:p>
            <a:pPr algn="l">
              <a:lnSpc>
                <a:spcPct val="110000"/>
              </a:lnSpc>
            </a:pPr>
            <a:r>
              <a:rPr sz="1300" b="0">
                <a:solidFill>
                  <a:srgbClr val="6B7280"/>
                </a:solidFill>
                <a:latin typeface="Calibri"/>
              </a:rPr>
              <a:t>10-second in-memory buffer, zero persistent recording. Evidence saved only on explicit save-for-audit — aligned with Indian data-privacy expectations.</a:t>
            </a:r>
          </a:p>
        </p:txBody>
      </p:sp>
      <p:sp>
        <p:nvSpPr>
          <p:cNvPr id="11" name="Rounded Rectangle 10"/>
          <p:cNvSpPr/>
          <p:nvPr/>
        </p:nvSpPr>
        <p:spPr>
          <a:xfrm>
            <a:off x="685800" y="3977639"/>
            <a:ext cx="5257800" cy="178308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78807"/>
            <a:ext cx="4709160" cy="365760"/>
          </a:xfrm>
          <a:prstGeom prst="rect">
            <a:avLst/>
          </a:prstGeom>
          <a:noFill/>
        </p:spPr>
        <p:txBody>
          <a:bodyPr wrap="square" anchor="t">
            <a:spAutoFit/>
          </a:bodyPr>
          <a:lstStyle/>
          <a:p>
            <a:pPr algn="l">
              <a:lnSpc>
                <a:spcPct val="100000"/>
              </a:lnSpc>
            </a:pPr>
            <a:r>
              <a:rPr sz="1700" b="1">
                <a:solidFill>
                  <a:srgbClr val="1A1A1A"/>
                </a:solidFill>
                <a:latin typeface="Calibri"/>
              </a:rPr>
              <a:t>Cascade efficiency</a:t>
            </a:r>
          </a:p>
        </p:txBody>
      </p:sp>
      <p:sp>
        <p:nvSpPr>
          <p:cNvPr id="13" name="TextBox 12"/>
          <p:cNvSpPr txBox="1"/>
          <p:nvPr/>
        </p:nvSpPr>
        <p:spPr>
          <a:xfrm>
            <a:off x="960120" y="4599431"/>
            <a:ext cx="4709160" cy="1097280"/>
          </a:xfrm>
          <a:prstGeom prst="rect">
            <a:avLst/>
          </a:prstGeom>
          <a:noFill/>
        </p:spPr>
        <p:txBody>
          <a:bodyPr wrap="square" anchor="t">
            <a:spAutoFit/>
          </a:bodyPr>
          <a:lstStyle/>
          <a:p>
            <a:pPr algn="l">
              <a:lnSpc>
                <a:spcPct val="110000"/>
              </a:lnSpc>
            </a:pPr>
            <a:r>
              <a:rPr sz="1300" b="0">
                <a:solidFill>
                  <a:srgbClr val="6B7280"/>
                </a:solidFill>
                <a:latin typeface="Calibri"/>
              </a:rPr>
              <a:t>Lightweight screening every chunk; the GPU ensemble spins up only on suspicion. Scales to many concurrent calls per box.</a:t>
            </a:r>
          </a:p>
        </p:txBody>
      </p:sp>
      <p:sp>
        <p:nvSpPr>
          <p:cNvPr id="14" name="Rounded Rectangle 13"/>
          <p:cNvSpPr/>
          <p:nvPr/>
        </p:nvSpPr>
        <p:spPr>
          <a:xfrm>
            <a:off x="6309360" y="3977639"/>
            <a:ext cx="5257800" cy="178308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178807"/>
            <a:ext cx="4709160" cy="365760"/>
          </a:xfrm>
          <a:prstGeom prst="rect">
            <a:avLst/>
          </a:prstGeom>
          <a:noFill/>
        </p:spPr>
        <p:txBody>
          <a:bodyPr wrap="square" anchor="t">
            <a:spAutoFit/>
          </a:bodyPr>
          <a:lstStyle/>
          <a:p>
            <a:pPr algn="l">
              <a:lnSpc>
                <a:spcPct val="100000"/>
              </a:lnSpc>
            </a:pPr>
            <a:r>
              <a:rPr sz="1700" b="1">
                <a:solidFill>
                  <a:srgbClr val="1A1A1A"/>
                </a:solidFill>
                <a:latin typeface="Calibri"/>
              </a:rPr>
              <a:t>Court-ready evidence</a:t>
            </a:r>
          </a:p>
        </p:txBody>
      </p:sp>
      <p:sp>
        <p:nvSpPr>
          <p:cNvPr id="16" name="TextBox 15"/>
          <p:cNvSpPr txBox="1"/>
          <p:nvPr/>
        </p:nvSpPr>
        <p:spPr>
          <a:xfrm>
            <a:off x="6583680" y="4599431"/>
            <a:ext cx="4709160" cy="1097280"/>
          </a:xfrm>
          <a:prstGeom prst="rect">
            <a:avLst/>
          </a:prstGeom>
          <a:noFill/>
        </p:spPr>
        <p:txBody>
          <a:bodyPr wrap="square" anchor="t">
            <a:spAutoFit/>
          </a:bodyPr>
          <a:lstStyle/>
          <a:p>
            <a:pPr algn="l">
              <a:lnSpc>
                <a:spcPct val="110000"/>
              </a:lnSpc>
            </a:pPr>
            <a:r>
              <a:rPr sz="1300" b="0">
                <a:solidFill>
                  <a:srgbClr val="6B7280"/>
                </a:solidFill>
                <a:latin typeface="Calibri"/>
              </a:rPr>
              <a:t>One click exports spectrogram + phase heatmap, SHA-256 audio hash, and the full per-model score envelope — a tamper-evident fraud case file.</a:t>
            </a:r>
          </a:p>
        </p:txBody>
      </p:sp>
      <p:sp>
        <p:nvSpPr>
          <p:cNvPr id="17" name="TextBox 16"/>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8" name="TextBox 17"/>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MEASURED, NOT PROMISED</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Validation results on real audio</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28800"/>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47672"/>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Detection — 323 fakes: 7 GAN vocoders, 100+ TTS/VC systems, wild deepfakes, ElevenLabs</a:t>
            </a:r>
          </a:p>
        </p:txBody>
      </p:sp>
      <p:sp>
        <p:nvSpPr>
          <p:cNvPr id="7" name="TextBox 6"/>
          <p:cNvSpPr txBox="1"/>
          <p:nvPr/>
        </p:nvSpPr>
        <p:spPr>
          <a:xfrm>
            <a:off x="7726680" y="1938528"/>
            <a:ext cx="3840480" cy="411480"/>
          </a:xfrm>
          <a:prstGeom prst="rect">
            <a:avLst/>
          </a:prstGeom>
          <a:noFill/>
        </p:spPr>
        <p:txBody>
          <a:bodyPr wrap="square" anchor="t">
            <a:spAutoFit/>
          </a:bodyPr>
          <a:lstStyle/>
          <a:p>
            <a:pPr algn="l">
              <a:lnSpc>
                <a:spcPct val="100000"/>
              </a:lnSpc>
            </a:pPr>
            <a:r>
              <a:rPr sz="1500" b="1">
                <a:solidFill>
                  <a:srgbClr val="C0392B"/>
                </a:solidFill>
                <a:latin typeface="Calibri"/>
              </a:rPr>
              <a:t>99% RED ≤ 10 s (≥4 s clips)</a:t>
            </a:r>
          </a:p>
        </p:txBody>
      </p:sp>
      <p:sp>
        <p:nvSpPr>
          <p:cNvPr id="8" name="Rounded Rectangle 7"/>
          <p:cNvSpPr/>
          <p:nvPr/>
        </p:nvSpPr>
        <p:spPr>
          <a:xfrm>
            <a:off x="685800" y="2523744"/>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42616"/>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Time to alert (median across detected fakes)</a:t>
            </a:r>
          </a:p>
        </p:txBody>
      </p:sp>
      <p:sp>
        <p:nvSpPr>
          <p:cNvPr id="10" name="TextBox 9"/>
          <p:cNvSpPr txBox="1"/>
          <p:nvPr/>
        </p:nvSpPr>
        <p:spPr>
          <a:xfrm>
            <a:off x="7726680" y="2633472"/>
            <a:ext cx="3840480" cy="411480"/>
          </a:xfrm>
          <a:prstGeom prst="rect">
            <a:avLst/>
          </a:prstGeom>
          <a:noFill/>
        </p:spPr>
        <p:txBody>
          <a:bodyPr wrap="square" anchor="t">
            <a:spAutoFit/>
          </a:bodyPr>
          <a:lstStyle/>
          <a:p>
            <a:pPr algn="l">
              <a:lnSpc>
                <a:spcPct val="100000"/>
              </a:lnSpc>
            </a:pPr>
            <a:r>
              <a:rPr sz="1500" b="1">
                <a:solidFill>
                  <a:srgbClr val="C0392B"/>
                </a:solidFill>
                <a:latin typeface="Calibri"/>
              </a:rPr>
              <a:t>AMBER 1.5 s · RED 2.0 s</a:t>
            </a:r>
          </a:p>
        </p:txBody>
      </p:sp>
      <p:sp>
        <p:nvSpPr>
          <p:cNvPr id="11" name="Rounded Rectangle 10"/>
          <p:cNvSpPr/>
          <p:nvPr/>
        </p:nvSpPr>
        <p:spPr>
          <a:xfrm>
            <a:off x="685800" y="3218688"/>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37560"/>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Hindi — FLEURS genuine vs MMS-TTS fakes (multilingual)</a:t>
            </a:r>
          </a:p>
        </p:txBody>
      </p:sp>
      <p:sp>
        <p:nvSpPr>
          <p:cNvPr id="13" name="TextBox 12"/>
          <p:cNvSpPr txBox="1"/>
          <p:nvPr/>
        </p:nvSpPr>
        <p:spPr>
          <a:xfrm>
            <a:off x="7726680" y="3328416"/>
            <a:ext cx="3840480" cy="411480"/>
          </a:xfrm>
          <a:prstGeom prst="rect">
            <a:avLst/>
          </a:prstGeom>
          <a:noFill/>
        </p:spPr>
        <p:txBody>
          <a:bodyPr wrap="square" anchor="t">
            <a:spAutoFit/>
          </a:bodyPr>
          <a:lstStyle/>
          <a:p>
            <a:pPr algn="l">
              <a:lnSpc>
                <a:spcPct val="100000"/>
              </a:lnSpc>
            </a:pPr>
            <a:r>
              <a:rPr sz="1500" b="1">
                <a:solidFill>
                  <a:srgbClr val="C0392B"/>
                </a:solidFill>
                <a:latin typeface="Calibri"/>
              </a:rPr>
              <a:t>AUC 1.0 · 100% flagged ≤5 s</a:t>
            </a:r>
          </a:p>
        </p:txBody>
      </p:sp>
      <p:sp>
        <p:nvSpPr>
          <p:cNvPr id="14" name="Rounded Rectangle 13"/>
          <p:cNvSpPr/>
          <p:nvPr/>
        </p:nvSpPr>
        <p:spPr>
          <a:xfrm>
            <a:off x="685800" y="3913632"/>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32504"/>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Genuine speech — 173 clips incl. codec + noisy wild domains</a:t>
            </a:r>
          </a:p>
        </p:txBody>
      </p:sp>
      <p:sp>
        <p:nvSpPr>
          <p:cNvPr id="16" name="TextBox 15"/>
          <p:cNvSpPr txBox="1"/>
          <p:nvPr/>
        </p:nvSpPr>
        <p:spPr>
          <a:xfrm>
            <a:off x="7726680" y="4023360"/>
            <a:ext cx="3840480" cy="411480"/>
          </a:xfrm>
          <a:prstGeom prst="rect">
            <a:avLst/>
          </a:prstGeom>
          <a:noFill/>
        </p:spPr>
        <p:txBody>
          <a:bodyPr wrap="square" anchor="t">
            <a:spAutoFit/>
          </a:bodyPr>
          <a:lstStyle/>
          <a:p>
            <a:pPr algn="l">
              <a:lnSpc>
                <a:spcPct val="100000"/>
              </a:lnSpc>
            </a:pPr>
            <a:r>
              <a:rPr sz="1500" b="1">
                <a:solidFill>
                  <a:srgbClr val="1B7A43"/>
                </a:solidFill>
                <a:latin typeface="Calibri"/>
              </a:rPr>
              <a:t>3.5% false-RED · demo set: zero</a:t>
            </a:r>
          </a:p>
        </p:txBody>
      </p:sp>
      <p:sp>
        <p:nvSpPr>
          <p:cNvPr id="17" name="Rounded Rectangle 16"/>
          <p:cNvSpPr/>
          <p:nvPr/>
        </p:nvSpPr>
        <p:spPr>
          <a:xfrm>
            <a:off x="685800" y="4608576"/>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27448"/>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Silence / degraded audio</a:t>
            </a:r>
          </a:p>
        </p:txBody>
      </p:sp>
      <p:sp>
        <p:nvSpPr>
          <p:cNvPr id="19" name="TextBox 18"/>
          <p:cNvSpPr txBox="1"/>
          <p:nvPr/>
        </p:nvSpPr>
        <p:spPr>
          <a:xfrm>
            <a:off x="7726680" y="4718304"/>
            <a:ext cx="3840480" cy="411480"/>
          </a:xfrm>
          <a:prstGeom prst="rect">
            <a:avLst/>
          </a:prstGeom>
          <a:noFill/>
        </p:spPr>
        <p:txBody>
          <a:bodyPr wrap="square" anchor="t">
            <a:spAutoFit/>
          </a:bodyPr>
          <a:lstStyle/>
          <a:p>
            <a:pPr algn="l">
              <a:lnSpc>
                <a:spcPct val="100000"/>
              </a:lnSpc>
            </a:pPr>
            <a:r>
              <a:rPr sz="1500" b="1">
                <a:solidFill>
                  <a:srgbClr val="8A8F98"/>
                </a:solidFill>
                <a:latin typeface="Calibri"/>
              </a:rPr>
              <a:t>GREY — never a false risk claim</a:t>
            </a:r>
          </a:p>
        </p:txBody>
      </p:sp>
      <p:sp>
        <p:nvSpPr>
          <p:cNvPr id="20" name="Rounded Rectangle 19"/>
          <p:cNvSpPr/>
          <p:nvPr/>
        </p:nvSpPr>
        <p:spPr>
          <a:xfrm>
            <a:off x="685800" y="5303520"/>
            <a:ext cx="6766560" cy="603504"/>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22392"/>
            <a:ext cx="6400800" cy="411480"/>
          </a:xfrm>
          <a:prstGeom prst="rect">
            <a:avLst/>
          </a:prstGeom>
          <a:noFill/>
        </p:spPr>
        <p:txBody>
          <a:bodyPr wrap="square" anchor="t">
            <a:spAutoFit/>
          </a:bodyPr>
          <a:lstStyle/>
          <a:p>
            <a:pPr algn="l">
              <a:lnSpc>
                <a:spcPct val="100000"/>
              </a:lnSpc>
            </a:pPr>
            <a:r>
              <a:rPr sz="1300" b="0">
                <a:solidFill>
                  <a:srgbClr val="1A1A1A"/>
                </a:solidFill>
                <a:latin typeface="Calibri"/>
              </a:rPr>
              <a:t>Latency per 500 ms chunk (60 W laptop GPU)</a:t>
            </a:r>
          </a:p>
        </p:txBody>
      </p:sp>
      <p:sp>
        <p:nvSpPr>
          <p:cNvPr id="22" name="TextBox 21"/>
          <p:cNvSpPr txBox="1"/>
          <p:nvPr/>
        </p:nvSpPr>
        <p:spPr>
          <a:xfrm>
            <a:off x="7726680" y="5413248"/>
            <a:ext cx="3840480" cy="411480"/>
          </a:xfrm>
          <a:prstGeom prst="rect">
            <a:avLst/>
          </a:prstGeom>
          <a:noFill/>
        </p:spPr>
        <p:txBody>
          <a:bodyPr wrap="square" anchor="t">
            <a:spAutoFit/>
          </a:bodyPr>
          <a:lstStyle/>
          <a:p>
            <a:pPr algn="l">
              <a:lnSpc>
                <a:spcPct val="100000"/>
              </a:lnSpc>
            </a:pPr>
            <a:r>
              <a:rPr sz="1500" b="1">
                <a:solidFill>
                  <a:srgbClr val="1A1A1A"/>
                </a:solidFill>
                <a:latin typeface="Calibri"/>
              </a:rPr>
              <a:t>p50 83–113 ms · p95 207 ms</a:t>
            </a:r>
          </a:p>
        </p:txBody>
      </p:sp>
      <p:sp>
        <p:nvSpPr>
          <p:cNvPr id="23" name="TextBox 22"/>
          <p:cNvSpPr txBox="1"/>
          <p:nvPr/>
        </p:nvSpPr>
        <p:spPr>
          <a:xfrm>
            <a:off x="685800" y="6035040"/>
            <a:ext cx="10820095" cy="548640"/>
          </a:xfrm>
          <a:prstGeom prst="rect">
            <a:avLst/>
          </a:prstGeom>
          <a:noFill/>
        </p:spPr>
        <p:txBody>
          <a:bodyPr wrap="square" anchor="t">
            <a:spAutoFit/>
          </a:bodyPr>
          <a:lstStyle/>
          <a:p>
            <a:pPr algn="l">
              <a:lnSpc>
                <a:spcPct val="100000"/>
              </a:lnSpc>
            </a:pPr>
            <a:r>
              <a:rPr sz="1200" b="0">
                <a:solidFill>
                  <a:srgbClr val="6B7280"/>
                </a:solidFill>
                <a:latin typeface="Calibri"/>
              </a:rPr>
              <a:t>Problem statement asks: flag High Risk within the first 10 seconds — median RED is at 1.5 s. Measured on a 496-clip benchmark (WaveFake, ASVspoof 2021 DF, In-the-Wild + generated clones); 94 automated tests gate every change.</a:t>
            </a:r>
          </a:p>
        </p:txBody>
      </p:sp>
      <p:sp>
        <p:nvSpPr>
          <p:cNvPr id="24" name="TextBox 23"/>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25" name="TextBox 24"/>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TECHNICAL MOAT</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The models are public. The calibration is ours.</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74519"/>
            <a:ext cx="10820095" cy="4023360"/>
          </a:xfrm>
          <a:prstGeom prst="rect">
            <a:avLst/>
          </a:prstGeom>
          <a:noFill/>
        </p:spPr>
        <p:txBody>
          <a:bodyPr wrap="square">
            <a:spAutoFit/>
          </a:bodyPr>
          <a:lstStyle/>
          <a:p>
            <a:pPr>
              <a:lnSpc>
                <a:spcPct val="105000"/>
              </a:lnSpc>
              <a:spcAft>
                <a:spcPts val="1400"/>
              </a:spcAft>
            </a:pPr>
            <a:r>
              <a:rPr sz="1500" b="1">
                <a:solidFill>
                  <a:srgbClr val="1A1A1A"/>
                </a:solidFill>
                <a:latin typeface="Calibri"/>
              </a:rPr>
              <a:t>—  Evidence-calibrated fusion.</a:t>
            </a:r>
            <a:r>
              <a:rPr sz="1500">
                <a:solidFill>
                  <a:srgbClr val="6B7280"/>
                </a:solidFill>
                <a:latin typeface="Calibri"/>
              </a:rPr>
              <a:t>  We measured each model's per-domain failure modes (a top model scores 1.0 on everything; another false-fires on 10% of genuine speakers) and encoded that trust into per-model peak-evidence rights. Plug-and-play ensembles don't survive contact with real audio — ours did.</a:t>
            </a:r>
          </a:p>
          <a:p>
            <a:pPr>
              <a:lnSpc>
                <a:spcPct val="105000"/>
              </a:lnSpc>
              <a:spcAft>
                <a:spcPts val="1400"/>
              </a:spcAft>
            </a:pPr>
            <a:r>
              <a:rPr sz="1500" b="1">
                <a:solidFill>
                  <a:srgbClr val="1A1A1A"/>
                </a:solidFill>
                <a:latin typeface="Calibri"/>
              </a:rPr>
              <a:t>—  Weak-evidence discipline.</a:t>
            </a:r>
            <a:r>
              <a:rPr sz="1500">
                <a:solidFill>
                  <a:srgbClr val="6B7280"/>
                </a:solidFill>
                <a:latin typeface="Calibri"/>
              </a:rPr>
              <a:t>  Scores scale with voiced content; silence can never escalate risk; GREY overrides everything. Zero false alerts on genuine speakers is an engineered property, not luck.</a:t>
            </a:r>
          </a:p>
          <a:p>
            <a:pPr>
              <a:lnSpc>
                <a:spcPct val="105000"/>
              </a:lnSpc>
              <a:spcAft>
                <a:spcPts val="1400"/>
              </a:spcAft>
            </a:pPr>
            <a:r>
              <a:rPr sz="1500" b="1">
                <a:solidFill>
                  <a:srgbClr val="1A1A1A"/>
                </a:solidFill>
                <a:latin typeface="Calibri"/>
              </a:rPr>
              <a:t>—  Channel forensics.</a:t>
            </a:r>
            <a:r>
              <a:rPr sz="1500">
                <a:solidFill>
                  <a:srgbClr val="6B7280"/>
                </a:solidFill>
                <a:latin typeface="Calibri"/>
              </a:rPr>
              <a:t>  We quantified how re-recording destroys synthesis artifacts (0.91 → 0.10 through a loudspeaker) — a measured limitation most vendors won't tell you about, and the reason replay-channel detection is our top calibration priority for the pilot.</a:t>
            </a:r>
          </a:p>
          <a:p>
            <a:pPr>
              <a:lnSpc>
                <a:spcPct val="105000"/>
              </a:lnSpc>
              <a:spcAft>
                <a:spcPts val="1400"/>
              </a:spcAft>
            </a:pPr>
            <a:r>
              <a:rPr sz="1500" b="1">
                <a:solidFill>
                  <a:srgbClr val="1A1A1A"/>
                </a:solidFill>
                <a:latin typeface="Calibri"/>
              </a:rPr>
              <a:t>—  A validation harness as the product.</a:t>
            </a:r>
            <a:r>
              <a:rPr sz="1500">
                <a:solidFill>
                  <a:srgbClr val="6B7280"/>
                </a:solidFill>
                <a:latin typeface="Calibri"/>
              </a:rPr>
              <a:t>  Fixture pipeline (genuine / TTS / cloned / degraded), 94 automated tests, latency benchmarks — new detectors are trusted only as far as they prove. Our own replay module is implemented but quarantined at zero weight until real call audio validates it. That discipline is the moat.</a:t>
            </a:r>
          </a:p>
        </p:txBody>
      </p:sp>
      <p:sp>
        <p:nvSpPr>
          <p:cNvPr id="6" name="TextBox 5"/>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7" name="TextBox 6"/>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DEPLOYABILITY</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Drops into existing bank telephony</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2103120"/>
            <a:ext cx="2103120" cy="128016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A1A1A"/>
                </a:solidFill>
                <a:latin typeface="Calibri"/>
              </a:rPr>
              <a:t>Call center PBX / SBC</a:t>
            </a:r>
          </a:p>
          <a:p>
            <a:pPr algn="ctr"/>
            <a:r>
              <a:rPr sz="1000">
                <a:solidFill>
                  <a:srgbClr val="6B7280"/>
                </a:solidFill>
                <a:latin typeface="Calibri"/>
              </a:rPr>
              <a:t>existing telephony</a:t>
            </a:r>
          </a:p>
        </p:txBody>
      </p:sp>
      <p:sp>
        <p:nvSpPr>
          <p:cNvPr id="6" name="Right Arrow 5"/>
          <p:cNvSpPr/>
          <p:nvPr/>
        </p:nvSpPr>
        <p:spPr>
          <a:xfrm>
            <a:off x="2843784" y="2633472"/>
            <a:ext cx="457200"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3474720"/>
            <a:ext cx="1280160" cy="274320"/>
          </a:xfrm>
          <a:prstGeom prst="rect">
            <a:avLst/>
          </a:prstGeom>
          <a:noFill/>
        </p:spPr>
        <p:txBody>
          <a:bodyPr wrap="square" anchor="t">
            <a:spAutoFit/>
          </a:bodyPr>
          <a:lstStyle/>
          <a:p>
            <a:pPr algn="ctr">
              <a:lnSpc>
                <a:spcPct val="100000"/>
              </a:lnSpc>
            </a:pPr>
            <a:r>
              <a:rPr sz="1000" b="0">
                <a:solidFill>
                  <a:srgbClr val="6B7280"/>
                </a:solidFill>
                <a:latin typeface="Calibri"/>
              </a:rPr>
              <a:t>RTP fork</a:t>
            </a:r>
          </a:p>
        </p:txBody>
      </p:sp>
      <p:sp>
        <p:nvSpPr>
          <p:cNvPr id="8" name="Rounded Rectangle 7"/>
          <p:cNvSpPr/>
          <p:nvPr/>
        </p:nvSpPr>
        <p:spPr>
          <a:xfrm>
            <a:off x="3383280" y="2103120"/>
            <a:ext cx="2834640" cy="128016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FFFFFF"/>
                </a:solidFill>
                <a:latin typeface="Calibri"/>
              </a:rPr>
              <a:t>VoiceShield server</a:t>
            </a:r>
          </a:p>
          <a:p>
            <a:pPr algn="ctr"/>
            <a:r>
              <a:rPr sz="1000">
                <a:solidFill>
                  <a:srgbClr val="BFBFBF"/>
                </a:solidFill>
                <a:latin typeface="Calibri"/>
              </a:rPr>
              <a:t>on-prem · 1 commodity GPU · CPU fallback</a:t>
            </a:r>
          </a:p>
        </p:txBody>
      </p:sp>
      <p:sp>
        <p:nvSpPr>
          <p:cNvPr id="9" name="Right Arrow 8"/>
          <p:cNvSpPr/>
          <p:nvPr/>
        </p:nvSpPr>
        <p:spPr>
          <a:xfrm>
            <a:off x="6281928" y="2633472"/>
            <a:ext cx="457200" cy="146304"/>
          </a:xfrm>
          <a:prstGeom prst="rightArrow">
            <a:avLst>
              <a:gd name="adj1" fmla="val 55000"/>
              <a:gd name="adj2" fmla="val 55000"/>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12280" y="2103120"/>
            <a:ext cx="2331720" cy="128016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A1A1A"/>
                </a:solidFill>
                <a:latin typeface="Calibri"/>
              </a:rPr>
              <a:t>Agent desktop</a:t>
            </a:r>
          </a:p>
          <a:p>
            <a:pPr algn="ctr"/>
            <a:r>
              <a:rPr sz="1000">
                <a:solidFill>
                  <a:srgbClr val="6B7280"/>
                </a:solidFill>
                <a:latin typeface="Calibri"/>
              </a:rPr>
              <a:t>advisory badge · WebSocket, 2×/sec</a:t>
            </a:r>
          </a:p>
        </p:txBody>
      </p:sp>
      <p:sp>
        <p:nvSpPr>
          <p:cNvPr id="11" name="Rounded Rectangle 10"/>
          <p:cNvSpPr/>
          <p:nvPr/>
        </p:nvSpPr>
        <p:spPr>
          <a:xfrm>
            <a:off x="9418320" y="2103120"/>
            <a:ext cx="2331720" cy="128016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A1A1A"/>
                </a:solidFill>
                <a:latin typeface="Calibri"/>
              </a:rPr>
              <a:t>Fraud team vault</a:t>
            </a:r>
          </a:p>
          <a:p>
            <a:pPr algn="ctr"/>
            <a:r>
              <a:rPr sz="1000">
                <a:solidFill>
                  <a:srgbClr val="6B7280"/>
                </a:solidFill>
                <a:latin typeface="Calibri"/>
              </a:rPr>
              <a:t>evidence packages on demand</a:t>
            </a:r>
          </a:p>
        </p:txBody>
      </p:sp>
      <p:sp>
        <p:nvSpPr>
          <p:cNvPr id="12" name="Right Arrow 11"/>
          <p:cNvSpPr/>
          <p:nvPr/>
        </p:nvSpPr>
        <p:spPr>
          <a:xfrm>
            <a:off x="9171432" y="2633472"/>
            <a:ext cx="219456" cy="146304"/>
          </a:xfrm>
          <a:prstGeom prst="rightArrow">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977639"/>
            <a:ext cx="10820095" cy="2011680"/>
          </a:xfrm>
          <a:prstGeom prst="rect">
            <a:avLst/>
          </a:prstGeom>
          <a:noFill/>
        </p:spPr>
        <p:txBody>
          <a:bodyPr wrap="square">
            <a:spAutoFit/>
          </a:bodyPr>
          <a:lstStyle/>
          <a:p>
            <a:pPr>
              <a:lnSpc>
                <a:spcPct val="105000"/>
              </a:lnSpc>
              <a:spcAft>
                <a:spcPts val="1000"/>
              </a:spcAft>
            </a:pPr>
            <a:r>
              <a:rPr sz="1500" b="1">
                <a:solidFill>
                  <a:srgbClr val="1A1A1A"/>
                </a:solidFill>
                <a:latin typeface="Calibri"/>
              </a:rPr>
              <a:t>—  Integration surface is two URLs.</a:t>
            </a:r>
            <a:r>
              <a:rPr sz="1500">
                <a:solidFill>
                  <a:srgbClr val="6B7280"/>
                </a:solidFill>
                <a:latin typeface="Calibri"/>
              </a:rPr>
              <a:t>  Versioned REST + WebSocket (/v1 frozen, /v2 ensemble) — CRM and agent-assist tools consume JSON; no telephony rework.</a:t>
            </a:r>
          </a:p>
          <a:p>
            <a:pPr>
              <a:lnSpc>
                <a:spcPct val="105000"/>
              </a:lnSpc>
              <a:spcAft>
                <a:spcPts val="1000"/>
              </a:spcAft>
            </a:pPr>
            <a:r>
              <a:rPr sz="1500" b="1">
                <a:solidFill>
                  <a:srgbClr val="1A1A1A"/>
                </a:solidFill>
                <a:latin typeface="Calibri"/>
              </a:rPr>
              <a:t>—  Compliance posture.</a:t>
            </a:r>
            <a:r>
              <a:rPr sz="1500">
                <a:solidFill>
                  <a:srgbClr val="6B7280"/>
                </a:solidFill>
                <a:latin typeface="Calibri"/>
              </a:rPr>
              <a:t>  No cloud dependency, no stored voice data, inference entirely on-premise; evidence export is explicit, hashed, and auditable.</a:t>
            </a:r>
          </a:p>
          <a:p>
            <a:pPr>
              <a:lnSpc>
                <a:spcPct val="105000"/>
              </a:lnSpc>
              <a:spcAft>
                <a:spcPts val="1000"/>
              </a:spcAft>
            </a:pPr>
            <a:r>
              <a:rPr sz="1500" b="1">
                <a:solidFill>
                  <a:srgbClr val="1A1A1A"/>
                </a:solidFill>
                <a:latin typeface="Calibri"/>
              </a:rPr>
              <a:t>—  Sizing.</a:t>
            </a:r>
            <a:r>
              <a:rPr sz="1500">
                <a:solidFill>
                  <a:srgbClr val="6B7280"/>
                </a:solidFill>
                <a:latin typeface="Calibri"/>
              </a:rPr>
              <a:t>  166 ms per 500 ms chunk on a laptop GPU today; one datacenter GPU serves multiple concurrent calls, and the cascade cuts average load further.</a:t>
            </a:r>
          </a:p>
        </p:txBody>
      </p:sp>
      <p:sp>
        <p:nvSpPr>
          <p:cNvPr id="14" name="TextBox 13"/>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5" name="TextBox 14"/>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LIVE DEMO</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What you will see (5 minutes)</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2011680"/>
            <a:ext cx="457200" cy="4572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latin typeface="Calibri"/>
              </a:rPr>
              <a:t>1</a:t>
            </a:r>
          </a:p>
        </p:txBody>
      </p:sp>
      <p:sp>
        <p:nvSpPr>
          <p:cNvPr id="6" name="TextBox 5"/>
          <p:cNvSpPr txBox="1"/>
          <p:nvPr/>
        </p:nvSpPr>
        <p:spPr>
          <a:xfrm>
            <a:off x="1371600" y="1993392"/>
            <a:ext cx="9601200" cy="365760"/>
          </a:xfrm>
          <a:prstGeom prst="rect">
            <a:avLst/>
          </a:prstGeom>
          <a:noFill/>
        </p:spPr>
        <p:txBody>
          <a:bodyPr wrap="square" anchor="t">
            <a:spAutoFit/>
          </a:bodyPr>
          <a:lstStyle/>
          <a:p>
            <a:pPr algn="l">
              <a:lnSpc>
                <a:spcPct val="100000"/>
              </a:lnSpc>
            </a:pPr>
            <a:r>
              <a:rPr sz="1800" b="1">
                <a:solidFill>
                  <a:srgbClr val="1A1A1A"/>
                </a:solidFill>
                <a:latin typeface="Calibri"/>
              </a:rPr>
              <a:t>Genuine voice — live microphone</a:t>
            </a:r>
          </a:p>
        </p:txBody>
      </p:sp>
      <p:sp>
        <p:nvSpPr>
          <p:cNvPr id="7" name="TextBox 6"/>
          <p:cNvSpPr txBox="1"/>
          <p:nvPr/>
        </p:nvSpPr>
        <p:spPr>
          <a:xfrm>
            <a:off x="1371600" y="2395728"/>
            <a:ext cx="9601200" cy="457200"/>
          </a:xfrm>
          <a:prstGeom prst="rect">
            <a:avLst/>
          </a:prstGeom>
          <a:noFill/>
        </p:spPr>
        <p:txBody>
          <a:bodyPr wrap="square" anchor="t">
            <a:spAutoFit/>
          </a:bodyPr>
          <a:lstStyle/>
          <a:p>
            <a:pPr algn="l">
              <a:lnSpc>
                <a:spcPct val="100000"/>
              </a:lnSpc>
            </a:pPr>
            <a:r>
              <a:rPr sz="1400" b="0">
                <a:solidFill>
                  <a:srgbClr val="6B7280"/>
                </a:solidFill>
                <a:latin typeface="Calibri"/>
              </a:rPr>
              <a:t>Speak into the browser; verdict stays GREEN, artifacts panel stays quiet.</a:t>
            </a:r>
          </a:p>
        </p:txBody>
      </p:sp>
      <p:sp>
        <p:nvSpPr>
          <p:cNvPr id="8" name="Oval 7"/>
          <p:cNvSpPr/>
          <p:nvPr/>
        </p:nvSpPr>
        <p:spPr>
          <a:xfrm>
            <a:off x="685800" y="3154680"/>
            <a:ext cx="457200" cy="4572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latin typeface="Calibri"/>
              </a:rPr>
              <a:t>2</a:t>
            </a:r>
          </a:p>
        </p:txBody>
      </p:sp>
      <p:sp>
        <p:nvSpPr>
          <p:cNvPr id="9" name="TextBox 8"/>
          <p:cNvSpPr txBox="1"/>
          <p:nvPr/>
        </p:nvSpPr>
        <p:spPr>
          <a:xfrm>
            <a:off x="1371600" y="3136392"/>
            <a:ext cx="9601200" cy="365760"/>
          </a:xfrm>
          <a:prstGeom prst="rect">
            <a:avLst/>
          </a:prstGeom>
          <a:noFill/>
        </p:spPr>
        <p:txBody>
          <a:bodyPr wrap="square" anchor="t">
            <a:spAutoFit/>
          </a:bodyPr>
          <a:lstStyle/>
          <a:p>
            <a:pPr algn="l">
              <a:lnSpc>
                <a:spcPct val="100000"/>
              </a:lnSpc>
            </a:pPr>
            <a:r>
              <a:rPr sz="1800" b="1">
                <a:solidFill>
                  <a:srgbClr val="1A1A1A"/>
                </a:solidFill>
                <a:latin typeface="Calibri"/>
              </a:rPr>
              <a:t>Real ElevenLabs voice clone</a:t>
            </a:r>
          </a:p>
        </p:txBody>
      </p:sp>
      <p:sp>
        <p:nvSpPr>
          <p:cNvPr id="10" name="TextBox 9"/>
          <p:cNvSpPr txBox="1"/>
          <p:nvPr/>
        </p:nvSpPr>
        <p:spPr>
          <a:xfrm>
            <a:off x="1371600" y="3538728"/>
            <a:ext cx="9601200" cy="457200"/>
          </a:xfrm>
          <a:prstGeom prst="rect">
            <a:avLst/>
          </a:prstGeom>
          <a:noFill/>
        </p:spPr>
        <p:txBody>
          <a:bodyPr wrap="square" anchor="t">
            <a:spAutoFit/>
          </a:bodyPr>
          <a:lstStyle/>
          <a:p>
            <a:pPr algn="l">
              <a:lnSpc>
                <a:spcPct val="100000"/>
              </a:lnSpc>
            </a:pPr>
            <a:r>
              <a:rPr sz="1400" b="0">
                <a:solidFill>
                  <a:srgbClr val="6B7280"/>
                </a:solidFill>
                <a:latin typeface="Calibri"/>
              </a:rPr>
              <a:t>Upload the cloned clip: AMBER at 3 s, RED at 5 s — watch the per-model score bars disagree, and fusion decide.</a:t>
            </a:r>
          </a:p>
        </p:txBody>
      </p:sp>
      <p:sp>
        <p:nvSpPr>
          <p:cNvPr id="11" name="Oval 10"/>
          <p:cNvSpPr/>
          <p:nvPr/>
        </p:nvSpPr>
        <p:spPr>
          <a:xfrm>
            <a:off x="685800" y="4297680"/>
            <a:ext cx="457200" cy="4572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latin typeface="Calibri"/>
              </a:rPr>
              <a:t>3</a:t>
            </a:r>
          </a:p>
        </p:txBody>
      </p:sp>
      <p:sp>
        <p:nvSpPr>
          <p:cNvPr id="12" name="TextBox 11"/>
          <p:cNvSpPr txBox="1"/>
          <p:nvPr/>
        </p:nvSpPr>
        <p:spPr>
          <a:xfrm>
            <a:off x="1371600" y="4279392"/>
            <a:ext cx="9601200" cy="365760"/>
          </a:xfrm>
          <a:prstGeom prst="rect">
            <a:avLst/>
          </a:prstGeom>
          <a:noFill/>
        </p:spPr>
        <p:txBody>
          <a:bodyPr wrap="square" anchor="t">
            <a:spAutoFit/>
          </a:bodyPr>
          <a:lstStyle/>
          <a:p>
            <a:pPr algn="l">
              <a:lnSpc>
                <a:spcPct val="100000"/>
              </a:lnSpc>
            </a:pPr>
            <a:r>
              <a:rPr sz="1800" b="1">
                <a:solidFill>
                  <a:srgbClr val="1A1A1A"/>
                </a:solidFill>
                <a:latin typeface="Calibri"/>
              </a:rPr>
              <a:t>Evidence export</a:t>
            </a:r>
          </a:p>
        </p:txBody>
      </p:sp>
      <p:sp>
        <p:nvSpPr>
          <p:cNvPr id="13" name="TextBox 12"/>
          <p:cNvSpPr txBox="1"/>
          <p:nvPr/>
        </p:nvSpPr>
        <p:spPr>
          <a:xfrm>
            <a:off x="1371600" y="4681728"/>
            <a:ext cx="9601200" cy="457200"/>
          </a:xfrm>
          <a:prstGeom prst="rect">
            <a:avLst/>
          </a:prstGeom>
          <a:noFill/>
        </p:spPr>
        <p:txBody>
          <a:bodyPr wrap="square" anchor="t">
            <a:spAutoFit/>
          </a:bodyPr>
          <a:lstStyle/>
          <a:p>
            <a:pPr algn="l">
              <a:lnSpc>
                <a:spcPct val="100000"/>
              </a:lnSpc>
            </a:pPr>
            <a:r>
              <a:rPr sz="1400" b="0">
                <a:solidFill>
                  <a:srgbClr val="6B7280"/>
                </a:solidFill>
                <a:latin typeface="Calibri"/>
              </a:rPr>
              <a:t>One click produces the audit package: spectrogram, phase heatmap, SHA-256, score envelope.</a:t>
            </a:r>
          </a:p>
        </p:txBody>
      </p:sp>
      <p:sp>
        <p:nvSpPr>
          <p:cNvPr id="14" name="TextBox 13"/>
          <p:cNvSpPr txBox="1"/>
          <p:nvPr/>
        </p:nvSpPr>
        <p:spPr>
          <a:xfrm>
            <a:off x="685800" y="5669280"/>
            <a:ext cx="10820095" cy="640080"/>
          </a:xfrm>
          <a:prstGeom prst="rect">
            <a:avLst/>
          </a:prstGeom>
          <a:noFill/>
        </p:spPr>
        <p:txBody>
          <a:bodyPr wrap="square" anchor="t">
            <a:spAutoFit/>
          </a:bodyPr>
          <a:lstStyle/>
          <a:p>
            <a:pPr algn="l">
              <a:lnSpc>
                <a:spcPct val="100000"/>
              </a:lnSpc>
            </a:pPr>
            <a:r>
              <a:rPr sz="1400" b="0">
                <a:solidFill>
                  <a:srgbClr val="6B7280"/>
                </a:solidFill>
                <a:latin typeface="Calibri"/>
              </a:rPr>
              <a:t>Everything runs live on this laptop — the same stack that would sit in the bank's datacenter.</a:t>
            </a:r>
          </a:p>
        </p:txBody>
      </p:sp>
      <p:sp>
        <p:nvSpPr>
          <p:cNvPr id="15" name="TextBox 14"/>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6" name="TextBox 15"/>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TECHNOLOGY READINESS</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TRL 6 — demonstrated in a relevant environment</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965960"/>
            <a:ext cx="2011680" cy="11430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latin typeface="Calibri"/>
              </a:rPr>
              <a:t>TRL 4</a:t>
            </a:r>
          </a:p>
          <a:p>
            <a:pPr algn="ctr"/>
            <a:r>
              <a:rPr sz="1000">
                <a:solidFill>
                  <a:srgbClr val="BFBFBF"/>
                </a:solidFill>
                <a:latin typeface="Calibri"/>
              </a:rPr>
              <a:t>components validated in lab</a:t>
            </a:r>
          </a:p>
        </p:txBody>
      </p:sp>
      <p:sp>
        <p:nvSpPr>
          <p:cNvPr id="6" name="Rounded Rectangle 5"/>
          <p:cNvSpPr/>
          <p:nvPr/>
        </p:nvSpPr>
        <p:spPr>
          <a:xfrm>
            <a:off x="2862072" y="1965960"/>
            <a:ext cx="2011680" cy="11430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latin typeface="Calibri"/>
              </a:rPr>
              <a:t>TRL 5</a:t>
            </a:r>
          </a:p>
          <a:p>
            <a:pPr algn="ctr"/>
            <a:r>
              <a:rPr sz="1000">
                <a:solidFill>
                  <a:srgbClr val="BFBFBF"/>
                </a:solidFill>
                <a:latin typeface="Calibri"/>
              </a:rPr>
              <a:t>integrated pipeline validated</a:t>
            </a:r>
          </a:p>
        </p:txBody>
      </p:sp>
      <p:sp>
        <p:nvSpPr>
          <p:cNvPr id="7" name="Rounded Rectangle 6"/>
          <p:cNvSpPr/>
          <p:nvPr/>
        </p:nvSpPr>
        <p:spPr>
          <a:xfrm>
            <a:off x="5038344" y="1965960"/>
            <a:ext cx="2011680" cy="11430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latin typeface="Calibri"/>
              </a:rPr>
              <a:t>TRL 6</a:t>
            </a:r>
          </a:p>
          <a:p>
            <a:pPr algn="ctr"/>
            <a:r>
              <a:rPr sz="1000">
                <a:solidFill>
                  <a:srgbClr val="BFBFBF"/>
                </a:solidFill>
                <a:latin typeface="Calibri"/>
              </a:rPr>
              <a:t>end-to-end system, live audio,</a:t>
            </a:r>
            <a:br/>
            <a:r>
              <a:rPr sz="1000">
                <a:solidFill>
                  <a:srgbClr val="6B7280"/>
                </a:solidFill>
                <a:latin typeface="Calibri"/>
              </a:rPr>
              <a:t>real pretrained models</a:t>
            </a:r>
          </a:p>
        </p:txBody>
      </p:sp>
      <p:sp>
        <p:nvSpPr>
          <p:cNvPr id="8" name="Rounded Rectangle 7"/>
          <p:cNvSpPr/>
          <p:nvPr/>
        </p:nvSpPr>
        <p:spPr>
          <a:xfrm>
            <a:off x="7214616" y="1965960"/>
            <a:ext cx="2011680" cy="114300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6B7280"/>
                </a:solidFill>
                <a:latin typeface="Calibri"/>
              </a:rPr>
              <a:t>TRL 7</a:t>
            </a:r>
          </a:p>
          <a:p>
            <a:pPr algn="ctr"/>
            <a:r>
              <a:rPr sz="1000">
                <a:solidFill>
                  <a:srgbClr val="6B7280"/>
                </a:solidFill>
                <a:latin typeface="Calibri"/>
              </a:rPr>
              <a:t>pilot on live call traffic</a:t>
            </a:r>
          </a:p>
        </p:txBody>
      </p:sp>
      <p:sp>
        <p:nvSpPr>
          <p:cNvPr id="9" name="Rounded Rectangle 8"/>
          <p:cNvSpPr/>
          <p:nvPr/>
        </p:nvSpPr>
        <p:spPr>
          <a:xfrm>
            <a:off x="9390888" y="1965960"/>
            <a:ext cx="2011680" cy="1143000"/>
          </a:xfrm>
          <a:prstGeom prst="roundRect">
            <a:avLst>
              <a:gd name="adj" fmla="val 12000"/>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6B7280"/>
                </a:solidFill>
                <a:latin typeface="Calibri"/>
              </a:rPr>
              <a:t>TRL 8</a:t>
            </a:r>
          </a:p>
          <a:p>
            <a:pPr algn="ctr"/>
            <a:r>
              <a:rPr sz="1000">
                <a:solidFill>
                  <a:srgbClr val="6B7280"/>
                </a:solidFill>
                <a:latin typeface="Calibri"/>
              </a:rPr>
              <a:t>hardened telephony integration</a:t>
            </a:r>
          </a:p>
        </p:txBody>
      </p:sp>
      <p:sp>
        <p:nvSpPr>
          <p:cNvPr id="10" name="TextBox 9"/>
          <p:cNvSpPr txBox="1"/>
          <p:nvPr/>
        </p:nvSpPr>
        <p:spPr>
          <a:xfrm>
            <a:off x="685800" y="3566160"/>
            <a:ext cx="10820095" cy="2377440"/>
          </a:xfrm>
          <a:prstGeom prst="rect">
            <a:avLst/>
          </a:prstGeom>
          <a:noFill/>
        </p:spPr>
        <p:txBody>
          <a:bodyPr wrap="square">
            <a:spAutoFit/>
          </a:bodyPr>
          <a:lstStyle/>
          <a:p>
            <a:pPr>
              <a:lnSpc>
                <a:spcPct val="105000"/>
              </a:lnSpc>
              <a:spcAft>
                <a:spcPts val="1000"/>
              </a:spcAft>
            </a:pPr>
            <a:r>
              <a:rPr sz="1500" b="1">
                <a:solidFill>
                  <a:srgbClr val="1A1A1A"/>
                </a:solidFill>
                <a:latin typeface="Calibri"/>
              </a:rPr>
              <a:t>—  Working system, not slides.</a:t>
            </a:r>
            <a:r>
              <a:rPr sz="1500">
                <a:solidFill>
                  <a:srgbClr val="6B7280"/>
                </a:solidFill>
                <a:latin typeface="Calibri"/>
              </a:rPr>
              <a:t>  Live browser-mic capture → GPU ensemble → advisory dashboard, running end-to-end today at p95 166 ms per chunk.</a:t>
            </a:r>
          </a:p>
          <a:p>
            <a:pPr>
              <a:lnSpc>
                <a:spcPct val="105000"/>
              </a:lnSpc>
              <a:spcAft>
                <a:spcPts val="1000"/>
              </a:spcAft>
            </a:pPr>
            <a:r>
              <a:rPr sz="1500" b="1">
                <a:solidFill>
                  <a:srgbClr val="1A1A1A"/>
                </a:solidFill>
                <a:latin typeface="Calibri"/>
              </a:rPr>
              <a:t>—  Engineering rigor.</a:t>
            </a:r>
            <a:r>
              <a:rPr sz="1500">
                <a:solidFill>
                  <a:srgbClr val="6B7280"/>
                </a:solidFill>
                <a:latin typeface="Calibri"/>
              </a:rPr>
              <a:t>  94 automated tests including acceptance gates (false-alert rate, detection-time, latency); CI-gated; structured audit logging with trace IDs.</a:t>
            </a:r>
          </a:p>
          <a:p>
            <a:pPr>
              <a:lnSpc>
                <a:spcPct val="105000"/>
              </a:lnSpc>
              <a:spcAft>
                <a:spcPts val="1000"/>
              </a:spcAft>
            </a:pPr>
            <a:r>
              <a:rPr sz="1500" b="1">
                <a:solidFill>
                  <a:srgbClr val="1A1A1A"/>
                </a:solidFill>
                <a:latin typeface="Calibri"/>
              </a:rPr>
              <a:t>—  Validated against real attacks.</a:t>
            </a:r>
            <a:r>
              <a:rPr sz="1500">
                <a:solidFill>
                  <a:srgbClr val="6B7280"/>
                </a:solidFill>
                <a:latin typeface="Calibri"/>
              </a:rPr>
              <a:t>  Detected a genuine ElevenLabs clone of a real voice — the exact attack in the problem statement.</a:t>
            </a:r>
          </a:p>
        </p:txBody>
      </p:sp>
      <p:sp>
        <p:nvSpPr>
          <p:cNvPr id="11" name="TextBox 10"/>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12" name="TextBox 11"/>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274320"/>
          </a:xfrm>
          <a:prstGeom prst="rect">
            <a:avLst/>
          </a:prstGeom>
          <a:noFill/>
        </p:spPr>
        <p:txBody>
          <a:bodyPr wrap="square" anchor="t">
            <a:spAutoFit/>
          </a:bodyPr>
          <a:lstStyle/>
          <a:p>
            <a:pPr algn="l">
              <a:lnSpc>
                <a:spcPct val="100000"/>
              </a:lnSpc>
            </a:pPr>
            <a:r>
              <a:rPr sz="1200" b="1">
                <a:solidFill>
                  <a:srgbClr val="6B7280"/>
                </a:solidFill>
                <a:latin typeface="Calibri"/>
              </a:rPr>
              <a:t>ROADMAP</a:t>
            </a:r>
          </a:p>
        </p:txBody>
      </p:sp>
      <p:sp>
        <p:nvSpPr>
          <p:cNvPr id="3" name="TextBox 2"/>
          <p:cNvSpPr txBox="1"/>
          <p:nvPr/>
        </p:nvSpPr>
        <p:spPr>
          <a:xfrm>
            <a:off x="685800" y="685800"/>
            <a:ext cx="10820095" cy="731520"/>
          </a:xfrm>
          <a:prstGeom prst="rect">
            <a:avLst/>
          </a:prstGeom>
          <a:noFill/>
        </p:spPr>
        <p:txBody>
          <a:bodyPr wrap="square" anchor="t">
            <a:spAutoFit/>
          </a:bodyPr>
          <a:lstStyle/>
          <a:p>
            <a:pPr algn="l">
              <a:lnSpc>
                <a:spcPct val="100000"/>
              </a:lnSpc>
            </a:pPr>
            <a:r>
              <a:rPr sz="3000" b="1">
                <a:solidFill>
                  <a:srgbClr val="1A1A1A"/>
                </a:solidFill>
                <a:latin typeface="Calibri Light"/>
              </a:rPr>
              <a:t>From prototype to production</a:t>
            </a:r>
          </a:p>
        </p:txBody>
      </p:sp>
      <p:sp>
        <p:nvSpPr>
          <p:cNvPr id="4" name="Rectangle 3"/>
          <p:cNvSpPr/>
          <p:nvPr/>
        </p:nvSpPr>
        <p:spPr>
          <a:xfrm>
            <a:off x="685800" y="1417320"/>
            <a:ext cx="502920" cy="330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651760"/>
            <a:ext cx="10820095" cy="25400"/>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2587752"/>
            <a:ext cx="155448" cy="15544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94560" cy="320040"/>
          </a:xfrm>
          <a:prstGeom prst="rect">
            <a:avLst/>
          </a:prstGeom>
          <a:noFill/>
        </p:spPr>
        <p:txBody>
          <a:bodyPr wrap="square" anchor="t">
            <a:spAutoFit/>
          </a:bodyPr>
          <a:lstStyle/>
          <a:p>
            <a:pPr algn="l">
              <a:lnSpc>
                <a:spcPct val="100000"/>
              </a:lnSpc>
            </a:pPr>
            <a:r>
              <a:rPr sz="1200" b="1">
                <a:solidFill>
                  <a:srgbClr val="C0392B"/>
                </a:solidFill>
                <a:latin typeface="Calibri"/>
              </a:rPr>
              <a:t>TODAY</a:t>
            </a:r>
          </a:p>
        </p:txBody>
      </p:sp>
      <p:sp>
        <p:nvSpPr>
          <p:cNvPr id="8" name="TextBox 7"/>
          <p:cNvSpPr txBox="1"/>
          <p:nvPr/>
        </p:nvSpPr>
        <p:spPr>
          <a:xfrm>
            <a:off x="685800" y="2944368"/>
            <a:ext cx="2651760" cy="365760"/>
          </a:xfrm>
          <a:prstGeom prst="rect">
            <a:avLst/>
          </a:prstGeom>
          <a:noFill/>
        </p:spPr>
        <p:txBody>
          <a:bodyPr wrap="square" anchor="t">
            <a:spAutoFit/>
          </a:bodyPr>
          <a:lstStyle/>
          <a:p>
            <a:pPr algn="l">
              <a:lnSpc>
                <a:spcPct val="100000"/>
              </a:lnSpc>
            </a:pPr>
            <a:r>
              <a:rPr sz="1600" b="1">
                <a:solidFill>
                  <a:srgbClr val="1A1A1A"/>
                </a:solidFill>
                <a:latin typeface="Calibri"/>
              </a:rPr>
              <a:t>Hackathon prototype</a:t>
            </a:r>
          </a:p>
        </p:txBody>
      </p:sp>
      <p:sp>
        <p:nvSpPr>
          <p:cNvPr id="9" name="TextBox 8"/>
          <p:cNvSpPr txBox="1"/>
          <p:nvPr/>
        </p:nvSpPr>
        <p:spPr>
          <a:xfrm>
            <a:off x="685800" y="3364992"/>
            <a:ext cx="2651760" cy="1097280"/>
          </a:xfrm>
          <a:prstGeom prst="rect">
            <a:avLst/>
          </a:prstGeom>
          <a:noFill/>
        </p:spPr>
        <p:txBody>
          <a:bodyPr wrap="square" anchor="t">
            <a:spAutoFit/>
          </a:bodyPr>
          <a:lstStyle/>
          <a:p>
            <a:pPr algn="l">
              <a:lnSpc>
                <a:spcPct val="110000"/>
              </a:lnSpc>
            </a:pPr>
            <a:r>
              <a:rPr sz="1200" b="0">
                <a:solidFill>
                  <a:srgbClr val="6B7280"/>
                </a:solidFill>
                <a:latin typeface="Calibri"/>
              </a:rPr>
              <a:t>cascade ensemble · replay detection ·</a:t>
            </a:r>
          </a:p>
          <a:p>
            <a:pPr algn="l">
              <a:lnSpc>
                <a:spcPct val="110000"/>
              </a:lnSpc>
            </a:pPr>
            <a:r>
              <a:rPr sz="1200" b="0">
                <a:solidFill>
                  <a:srgbClr val="6B7280"/>
                </a:solidFill>
                <a:latin typeface="Calibri"/>
              </a:rPr>
              <a:t>evidence export · live dashboard</a:t>
            </a:r>
          </a:p>
        </p:txBody>
      </p:sp>
      <p:sp>
        <p:nvSpPr>
          <p:cNvPr id="10" name="Oval 9"/>
          <p:cNvSpPr/>
          <p:nvPr/>
        </p:nvSpPr>
        <p:spPr>
          <a:xfrm>
            <a:off x="3390823" y="2587752"/>
            <a:ext cx="155448" cy="155448"/>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0823" y="2084832"/>
            <a:ext cx="2194560" cy="320040"/>
          </a:xfrm>
          <a:prstGeom prst="rect">
            <a:avLst/>
          </a:prstGeom>
          <a:noFill/>
        </p:spPr>
        <p:txBody>
          <a:bodyPr wrap="square" anchor="t">
            <a:spAutoFit/>
          </a:bodyPr>
          <a:lstStyle/>
          <a:p>
            <a:pPr algn="l">
              <a:lnSpc>
                <a:spcPct val="100000"/>
              </a:lnSpc>
            </a:pPr>
            <a:r>
              <a:rPr sz="1200" b="1">
                <a:solidFill>
                  <a:srgbClr val="6B7280"/>
                </a:solidFill>
                <a:latin typeface="Calibri"/>
              </a:rPr>
              <a:t>+3 MONTHS</a:t>
            </a:r>
          </a:p>
        </p:txBody>
      </p:sp>
      <p:sp>
        <p:nvSpPr>
          <p:cNvPr id="12" name="TextBox 11"/>
          <p:cNvSpPr txBox="1"/>
          <p:nvPr/>
        </p:nvSpPr>
        <p:spPr>
          <a:xfrm>
            <a:off x="3390823" y="2944368"/>
            <a:ext cx="2651760" cy="365760"/>
          </a:xfrm>
          <a:prstGeom prst="rect">
            <a:avLst/>
          </a:prstGeom>
          <a:noFill/>
        </p:spPr>
        <p:txBody>
          <a:bodyPr wrap="square" anchor="t">
            <a:spAutoFit/>
          </a:bodyPr>
          <a:lstStyle/>
          <a:p>
            <a:pPr algn="l">
              <a:lnSpc>
                <a:spcPct val="100000"/>
              </a:lnSpc>
            </a:pPr>
            <a:r>
              <a:rPr sz="1600" b="1">
                <a:solidFill>
                  <a:srgbClr val="1A1A1A"/>
                </a:solidFill>
                <a:latin typeface="Calibri"/>
              </a:rPr>
              <a:t>Bank pilot</a:t>
            </a:r>
          </a:p>
        </p:txBody>
      </p:sp>
      <p:sp>
        <p:nvSpPr>
          <p:cNvPr id="13" name="TextBox 12"/>
          <p:cNvSpPr txBox="1"/>
          <p:nvPr/>
        </p:nvSpPr>
        <p:spPr>
          <a:xfrm>
            <a:off x="3390823" y="3364992"/>
            <a:ext cx="2651760" cy="1097280"/>
          </a:xfrm>
          <a:prstGeom prst="rect">
            <a:avLst/>
          </a:prstGeom>
          <a:noFill/>
        </p:spPr>
        <p:txBody>
          <a:bodyPr wrap="square" anchor="t">
            <a:spAutoFit/>
          </a:bodyPr>
          <a:lstStyle/>
          <a:p>
            <a:pPr algn="l">
              <a:lnSpc>
                <a:spcPct val="110000"/>
              </a:lnSpc>
            </a:pPr>
            <a:r>
              <a:rPr sz="1200" b="0">
                <a:solidFill>
                  <a:srgbClr val="6B7280"/>
                </a:solidFill>
                <a:latin typeface="Calibri"/>
              </a:rPr>
              <a:t>SIP/RTP tap on live traffic · replay-channel</a:t>
            </a:r>
          </a:p>
          <a:p>
            <a:pPr algn="l">
              <a:lnSpc>
                <a:spcPct val="110000"/>
              </a:lnSpc>
            </a:pPr>
            <a:r>
              <a:rPr sz="1200" b="0">
                <a:solidFill>
                  <a:srgbClr val="6B7280"/>
                </a:solidFill>
                <a:latin typeface="Calibri"/>
              </a:rPr>
              <a:t>detection calibrated on real call audio</a:t>
            </a:r>
          </a:p>
        </p:txBody>
      </p:sp>
      <p:sp>
        <p:nvSpPr>
          <p:cNvPr id="14" name="Oval 13"/>
          <p:cNvSpPr/>
          <p:nvPr/>
        </p:nvSpPr>
        <p:spPr>
          <a:xfrm>
            <a:off x="6095846" y="2587752"/>
            <a:ext cx="155448" cy="155448"/>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5846" y="2084832"/>
            <a:ext cx="2194560" cy="320040"/>
          </a:xfrm>
          <a:prstGeom prst="rect">
            <a:avLst/>
          </a:prstGeom>
          <a:noFill/>
        </p:spPr>
        <p:txBody>
          <a:bodyPr wrap="square" anchor="t">
            <a:spAutoFit/>
          </a:bodyPr>
          <a:lstStyle/>
          <a:p>
            <a:pPr algn="l">
              <a:lnSpc>
                <a:spcPct val="100000"/>
              </a:lnSpc>
            </a:pPr>
            <a:r>
              <a:rPr sz="1200" b="1">
                <a:solidFill>
                  <a:srgbClr val="6B7280"/>
                </a:solidFill>
                <a:latin typeface="Calibri"/>
              </a:rPr>
              <a:t>+6 MONTHS</a:t>
            </a:r>
          </a:p>
        </p:txBody>
      </p:sp>
      <p:sp>
        <p:nvSpPr>
          <p:cNvPr id="16" name="TextBox 15"/>
          <p:cNvSpPr txBox="1"/>
          <p:nvPr/>
        </p:nvSpPr>
        <p:spPr>
          <a:xfrm>
            <a:off x="6095846" y="2944368"/>
            <a:ext cx="2651760" cy="365760"/>
          </a:xfrm>
          <a:prstGeom prst="rect">
            <a:avLst/>
          </a:prstGeom>
          <a:noFill/>
        </p:spPr>
        <p:txBody>
          <a:bodyPr wrap="square" anchor="t">
            <a:spAutoFit/>
          </a:bodyPr>
          <a:lstStyle/>
          <a:p>
            <a:pPr algn="l">
              <a:lnSpc>
                <a:spcPct val="100000"/>
              </a:lnSpc>
            </a:pPr>
            <a:r>
              <a:rPr sz="1600" b="1">
                <a:solidFill>
                  <a:srgbClr val="1A1A1A"/>
                </a:solidFill>
                <a:latin typeface="Calibri"/>
              </a:rPr>
              <a:t>India-ready</a:t>
            </a:r>
          </a:p>
        </p:txBody>
      </p:sp>
      <p:sp>
        <p:nvSpPr>
          <p:cNvPr id="17" name="TextBox 16"/>
          <p:cNvSpPr txBox="1"/>
          <p:nvPr/>
        </p:nvSpPr>
        <p:spPr>
          <a:xfrm>
            <a:off x="6095846" y="3364992"/>
            <a:ext cx="2651760" cy="1097280"/>
          </a:xfrm>
          <a:prstGeom prst="rect">
            <a:avLst/>
          </a:prstGeom>
          <a:noFill/>
        </p:spPr>
        <p:txBody>
          <a:bodyPr wrap="square" anchor="t">
            <a:spAutoFit/>
          </a:bodyPr>
          <a:lstStyle/>
          <a:p>
            <a:pPr algn="l">
              <a:lnSpc>
                <a:spcPct val="110000"/>
              </a:lnSpc>
            </a:pPr>
            <a:r>
              <a:rPr sz="1200" b="0">
                <a:solidFill>
                  <a:srgbClr val="6B7280"/>
                </a:solidFill>
                <a:latin typeface="Calibri"/>
              </a:rPr>
              <a:t>Hindi + regional-language robustness ·</a:t>
            </a:r>
          </a:p>
          <a:p>
            <a:pPr algn="l">
              <a:lnSpc>
                <a:spcPct val="110000"/>
              </a:lnSpc>
            </a:pPr>
            <a:r>
              <a:rPr sz="1200" b="0">
                <a:solidFill>
                  <a:srgbClr val="6B7280"/>
                </a:solidFill>
                <a:latin typeface="Calibri"/>
              </a:rPr>
              <a:t>multilingual anti-spoof model · agent rollout</a:t>
            </a:r>
          </a:p>
        </p:txBody>
      </p:sp>
      <p:sp>
        <p:nvSpPr>
          <p:cNvPr id="18" name="Oval 17"/>
          <p:cNvSpPr/>
          <p:nvPr/>
        </p:nvSpPr>
        <p:spPr>
          <a:xfrm>
            <a:off x="8800869" y="2587752"/>
            <a:ext cx="155448" cy="155448"/>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0869" y="2084832"/>
            <a:ext cx="2194560" cy="320040"/>
          </a:xfrm>
          <a:prstGeom prst="rect">
            <a:avLst/>
          </a:prstGeom>
          <a:noFill/>
        </p:spPr>
        <p:txBody>
          <a:bodyPr wrap="square" anchor="t">
            <a:spAutoFit/>
          </a:bodyPr>
          <a:lstStyle/>
          <a:p>
            <a:pPr algn="l">
              <a:lnSpc>
                <a:spcPct val="100000"/>
              </a:lnSpc>
            </a:pPr>
            <a:r>
              <a:rPr sz="1200" b="1">
                <a:solidFill>
                  <a:srgbClr val="6B7280"/>
                </a:solidFill>
                <a:latin typeface="Calibri"/>
              </a:rPr>
              <a:t>+12 MONTHS</a:t>
            </a:r>
          </a:p>
        </p:txBody>
      </p:sp>
      <p:sp>
        <p:nvSpPr>
          <p:cNvPr id="20" name="TextBox 19"/>
          <p:cNvSpPr txBox="1"/>
          <p:nvPr/>
        </p:nvSpPr>
        <p:spPr>
          <a:xfrm>
            <a:off x="8800869" y="2944368"/>
            <a:ext cx="2651760" cy="365760"/>
          </a:xfrm>
          <a:prstGeom prst="rect">
            <a:avLst/>
          </a:prstGeom>
          <a:noFill/>
        </p:spPr>
        <p:txBody>
          <a:bodyPr wrap="square" anchor="t">
            <a:spAutoFit/>
          </a:bodyPr>
          <a:lstStyle/>
          <a:p>
            <a:pPr algn="l">
              <a:lnSpc>
                <a:spcPct val="100000"/>
              </a:lnSpc>
            </a:pPr>
            <a:r>
              <a:rPr sz="1600" b="1">
                <a:solidFill>
                  <a:srgbClr val="1A1A1A"/>
                </a:solidFill>
                <a:latin typeface="Calibri"/>
              </a:rPr>
              <a:t>Network effect</a:t>
            </a:r>
          </a:p>
        </p:txBody>
      </p:sp>
      <p:sp>
        <p:nvSpPr>
          <p:cNvPr id="21" name="TextBox 20"/>
          <p:cNvSpPr txBox="1"/>
          <p:nvPr/>
        </p:nvSpPr>
        <p:spPr>
          <a:xfrm>
            <a:off x="8800869" y="3364992"/>
            <a:ext cx="2651760" cy="1097280"/>
          </a:xfrm>
          <a:prstGeom prst="rect">
            <a:avLst/>
          </a:prstGeom>
          <a:noFill/>
        </p:spPr>
        <p:txBody>
          <a:bodyPr wrap="square" anchor="t">
            <a:spAutoFit/>
          </a:bodyPr>
          <a:lstStyle/>
          <a:p>
            <a:pPr algn="l">
              <a:lnSpc>
                <a:spcPct val="110000"/>
              </a:lnSpc>
            </a:pPr>
            <a:r>
              <a:rPr sz="1200" b="0">
                <a:solidFill>
                  <a:srgbClr val="6B7280"/>
                </a:solidFill>
                <a:latin typeface="Calibri"/>
              </a:rPr>
              <a:t>cross-branch fraud analytics · voice-clone</a:t>
            </a:r>
          </a:p>
          <a:p>
            <a:pPr algn="l">
              <a:lnSpc>
                <a:spcPct val="110000"/>
              </a:lnSpc>
            </a:pPr>
            <a:r>
              <a:rPr sz="1200" b="0">
                <a:solidFill>
                  <a:srgbClr val="6B7280"/>
                </a:solidFill>
                <a:latin typeface="Calibri"/>
              </a:rPr>
              <a:t>threat intel shared across PSBs</a:t>
            </a:r>
          </a:p>
        </p:txBody>
      </p:sp>
      <p:sp>
        <p:nvSpPr>
          <p:cNvPr id="22" name="TextBox 21"/>
          <p:cNvSpPr txBox="1"/>
          <p:nvPr/>
        </p:nvSpPr>
        <p:spPr>
          <a:xfrm>
            <a:off x="685800" y="4937760"/>
            <a:ext cx="10820095" cy="1097280"/>
          </a:xfrm>
          <a:prstGeom prst="rect">
            <a:avLst/>
          </a:prstGeom>
          <a:noFill/>
        </p:spPr>
        <p:txBody>
          <a:bodyPr wrap="square" anchor="t">
            <a:spAutoFit/>
          </a:bodyPr>
          <a:lstStyle/>
          <a:p>
            <a:pPr algn="l">
              <a:lnSpc>
                <a:spcPct val="100000"/>
              </a:lnSpc>
            </a:pPr>
            <a:r>
              <a:rPr sz="1400" b="0">
                <a:solidFill>
                  <a:srgbClr val="6B7280"/>
                </a:solidFill>
                <a:latin typeface="Calibri"/>
              </a:rPr>
              <a:t>Deliberate scope: detection accuracy and honest calibration first, telephony plumbing second. The API seams (versioned /v1 → /v2) mean each phase ships without breaking the last.</a:t>
            </a:r>
          </a:p>
        </p:txBody>
      </p:sp>
      <p:sp>
        <p:nvSpPr>
          <p:cNvPr id="23" name="TextBox 22"/>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24" name="TextBox 23"/>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377440"/>
            <a:ext cx="10820095" cy="1463040"/>
          </a:xfrm>
          <a:prstGeom prst="rect">
            <a:avLst/>
          </a:prstGeom>
          <a:noFill/>
        </p:spPr>
        <p:txBody>
          <a:bodyPr wrap="square" anchor="t">
            <a:spAutoFit/>
          </a:bodyPr>
          <a:lstStyle/>
          <a:p>
            <a:pPr algn="l">
              <a:lnSpc>
                <a:spcPct val="105000"/>
              </a:lnSpc>
            </a:pPr>
            <a:r>
              <a:rPr sz="4000" b="1">
                <a:solidFill>
                  <a:srgbClr val="1A1A1A"/>
                </a:solidFill>
                <a:latin typeface="Calibri Light"/>
              </a:rPr>
              <a:t>The audio is the only evidence</a:t>
            </a:r>
          </a:p>
          <a:p>
            <a:pPr algn="l">
              <a:lnSpc>
                <a:spcPct val="105000"/>
              </a:lnSpc>
            </a:pPr>
            <a:r>
              <a:rPr sz="4000" b="1">
                <a:solidFill>
                  <a:srgbClr val="1A1A1A"/>
                </a:solidFill>
                <a:latin typeface="Calibri Light"/>
              </a:rPr>
              <a:t>that cannot lie. We read it.</a:t>
            </a:r>
          </a:p>
        </p:txBody>
      </p:sp>
      <p:sp>
        <p:nvSpPr>
          <p:cNvPr id="3" name="Rectangle 2"/>
          <p:cNvSpPr/>
          <p:nvPr/>
        </p:nvSpPr>
        <p:spPr>
          <a:xfrm>
            <a:off x="704088" y="3977639"/>
            <a:ext cx="822960" cy="381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206240"/>
            <a:ext cx="10058400" cy="457200"/>
          </a:xfrm>
          <a:prstGeom prst="rect">
            <a:avLst/>
          </a:prstGeom>
          <a:noFill/>
        </p:spPr>
        <p:txBody>
          <a:bodyPr wrap="square" anchor="t">
            <a:spAutoFit/>
          </a:bodyPr>
          <a:lstStyle/>
          <a:p>
            <a:pPr algn="l">
              <a:lnSpc>
                <a:spcPct val="100000"/>
              </a:lnSpc>
            </a:pPr>
            <a:r>
              <a:rPr sz="1600" b="0">
                <a:solidFill>
                  <a:srgbClr val="6B7280"/>
                </a:solidFill>
                <a:latin typeface="Calibri"/>
              </a:rPr>
              <a:t>VoiceShield — Team Jigyasa  ·  Questions welcome</a:t>
            </a:r>
          </a:p>
        </p:txBody>
      </p:sp>
      <p:sp>
        <p:nvSpPr>
          <p:cNvPr id="5" name="TextBox 4"/>
          <p:cNvSpPr txBox="1"/>
          <p:nvPr/>
        </p:nvSpPr>
        <p:spPr>
          <a:xfrm>
            <a:off x="685800" y="6446520"/>
            <a:ext cx="5486400" cy="274320"/>
          </a:xfrm>
          <a:prstGeom prst="rect">
            <a:avLst/>
          </a:prstGeom>
          <a:noFill/>
        </p:spPr>
        <p:txBody>
          <a:bodyPr wrap="square" anchor="t">
            <a:spAutoFit/>
          </a:bodyPr>
          <a:lstStyle/>
          <a:p>
            <a:pPr algn="l">
              <a:lnSpc>
                <a:spcPct val="100000"/>
              </a:lnSpc>
            </a:pPr>
            <a:r>
              <a:rPr sz="900" b="0">
                <a:solidFill>
                  <a:srgbClr val="6B7280"/>
                </a:solidFill>
                <a:latin typeface="Calibri"/>
              </a:rPr>
              <a:t>VoiceShield · Team Jigyasa</a:t>
            </a:r>
          </a:p>
        </p:txBody>
      </p:sp>
      <p:sp>
        <p:nvSpPr>
          <p:cNvPr id="6" name="TextBox 5"/>
          <p:cNvSpPr txBox="1"/>
          <p:nvPr/>
        </p:nvSpPr>
        <p:spPr>
          <a:xfrm>
            <a:off x="11048695" y="6446520"/>
            <a:ext cx="457200" cy="274320"/>
          </a:xfrm>
          <a:prstGeom prst="rect">
            <a:avLst/>
          </a:prstGeom>
          <a:noFill/>
        </p:spPr>
        <p:txBody>
          <a:bodyPr wrap="square" anchor="t">
            <a:spAutoFit/>
          </a:bodyPr>
          <a:lstStyle/>
          <a:p>
            <a:pPr algn="r">
              <a:lnSpc>
                <a:spcPct val="100000"/>
              </a:lnSpc>
            </a:pPr>
            <a:r>
              <a:rPr sz="900" b="0">
                <a:solidFill>
                  <a:srgbClr val="6B7280"/>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